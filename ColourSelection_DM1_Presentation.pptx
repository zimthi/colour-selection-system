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8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7196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the module and the organization: Colour Selection, a B2B textile trading and reselling company. Outline the talk: introduction, objectives, database design, advantages and conclusion.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Colour Selection does and the two workflows: supply chain (suppliers to warehouses) and sales and billing (customers, orders, invoices, payments). Then the three problems: inventory blind spots, disconnected billing and supplier mismanagement. A relational database solves all three by storing each fact once and linking facts through keys.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aim, then the six objectives, which match the coursework parts: conceptual design, logical design, physical design, data, queries and security. Scope: nine entities. HR and a front-end are intentionally excluded. Tools: SQL Server, SSMS and T-SQL for the database, Bristol board for the ER diagram.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entities drawn in Chen notation. Rectangles are entities, diamonds are relationships, ovals are attributes. Primary keys are underlined, dashed ovals are derived values (SubTotal and TotalAmount). Numbers 1 and N show cardinality; a double line means total participation. INVENTORY and ORDER_DETAIL are associative entities.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relationship is one-to-many, so the foreign key sits on the many side. Participation: a supplier, warehouse, product, customer or invoice can exist before it takes part (partial). Every product, inventory record, order, order line, invoice and payment must belong to its parent (total).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 diagram was mapped to relations using the standard seven steps. Only steps 1 and 4 apply: entities to relations and 1:N relationships to foreign keys. The arrows show each foreign key pointing to its parent primary key.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unnormalized sales record with repeating groups. 1NF removes repeating groups. 2NF: every table has a single-column key, so no partial dependencies. 3NF: details such as supplier and customer are stored once and referenced by key. Mention the deliberate denormalization of SubTotal and TotalAmount.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design: nine tables created parent-first in ColourSelectionDB, with primary keys, NOT NULL foreign keys and CHECK constraints (example: PRODUCT). Every table holds ten records. Thirteen queries answer frequently asked business questions: five basic, five advanced and three joins. Show one live result for each category if time allows.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logins and two database users. The Manager has full rights. The Clerk processes daily transactions but cannot change master data and is explicitly denied deleting customers, orders, invoices and payments. DENY overrides GRANT.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each advantage back to a problem: one database fixes the blind spots, 3NF removes redundancy, constraints protect accuracy, roles protect sensitive data, and queries give fast answers.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what was delivered and tie it back to the problem statement. Mention the future work, then invite questions. Be ready to explain: why INVENTORY and ORDER_DETAIL exist, why SubTotal and TotalAmount are stored, how DENY overrides GRANT, and why invoices link to orders through PAYMENT.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9"/>
        </a:solidFill>
        <a:effectLst/>
      </p:bgPr>
    </p:bg>
    <p:spTree>
      <p:nvGrpSpPr>
        <p:cNvPr id="1" name=""/>
        <p:cNvGrpSpPr/>
        <p:nvPr/>
      </p:nvGrpSpPr>
      <p:grpSpPr>
        <a:xfrm>
          <a:off x="0" y="0"/>
          <a:ext cx="0" cy="0"/>
          <a:chOff x="0" y="0"/>
          <a:chExt cx="0" cy="0"/>
        </a:xfrm>
      </p:grpSpPr>
      <p:sp>
        <p:nvSpPr>
          <p:cNvPr id="2" name="Shape 0"/>
          <p:cNvSpPr/>
          <p:nvPr/>
        </p:nvSpPr>
        <p:spPr>
          <a:xfrm>
            <a:off x="9692640" y="457200"/>
            <a:ext cx="1371600" cy="1371600"/>
          </a:xfrm>
          <a:prstGeom prst="ellipse">
            <a:avLst/>
          </a:prstGeom>
          <a:solidFill>
            <a:srgbClr val="2A9D8F">
              <a:alpha val="80000"/>
            </a:srgbClr>
          </a:solidFill>
          <a:ln w="12700">
            <a:solidFill>
              <a:srgbClr val="2A9D8F"/>
            </a:solidFill>
            <a:prstDash val="solid"/>
          </a:ln>
        </p:spPr>
        <p:txBody>
          <a:bodyPr/>
          <a:lstStyle/>
          <a:p>
            <a:endParaRPr lang="en-BB"/>
          </a:p>
        </p:txBody>
      </p:sp>
      <p:sp>
        <p:nvSpPr>
          <p:cNvPr id="3" name="Shape 1"/>
          <p:cNvSpPr/>
          <p:nvPr/>
        </p:nvSpPr>
        <p:spPr>
          <a:xfrm>
            <a:off x="10515600" y="914400"/>
            <a:ext cx="1645920" cy="1645920"/>
          </a:xfrm>
          <a:prstGeom prst="ellipse">
            <a:avLst/>
          </a:prstGeom>
          <a:solidFill>
            <a:srgbClr val="F4A261">
              <a:alpha val="75000"/>
            </a:srgbClr>
          </a:solidFill>
          <a:ln w="12700">
            <a:solidFill>
              <a:srgbClr val="F4A261"/>
            </a:solidFill>
            <a:prstDash val="solid"/>
          </a:ln>
        </p:spPr>
        <p:txBody>
          <a:bodyPr/>
          <a:lstStyle/>
          <a:p>
            <a:endParaRPr lang="en-BB"/>
          </a:p>
        </p:txBody>
      </p:sp>
      <p:sp>
        <p:nvSpPr>
          <p:cNvPr id="4" name="Shape 2"/>
          <p:cNvSpPr/>
          <p:nvPr/>
        </p:nvSpPr>
        <p:spPr>
          <a:xfrm>
            <a:off x="9966960" y="1463040"/>
            <a:ext cx="1097280" cy="1097280"/>
          </a:xfrm>
          <a:prstGeom prst="ellipse">
            <a:avLst/>
          </a:prstGeom>
          <a:solidFill>
            <a:srgbClr val="E76F51">
              <a:alpha val="75000"/>
            </a:srgbClr>
          </a:solidFill>
          <a:ln w="12700">
            <a:solidFill>
              <a:srgbClr val="E76F51"/>
            </a:solidFill>
            <a:prstDash val="solid"/>
          </a:ln>
        </p:spPr>
        <p:txBody>
          <a:bodyPr/>
          <a:lstStyle/>
          <a:p>
            <a:endParaRPr lang="en-BB"/>
          </a:p>
        </p:txBody>
      </p:sp>
      <p:sp>
        <p:nvSpPr>
          <p:cNvPr id="5" name="Text 3"/>
          <p:cNvSpPr txBox="1"/>
          <p:nvPr/>
        </p:nvSpPr>
        <p:spPr>
          <a:xfrm>
            <a:off x="640080" y="1097280"/>
            <a:ext cx="8229600" cy="109728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Colour Selection</a:t>
            </a:r>
            <a:endParaRPr lang="en-US" sz="5600" dirty="0"/>
          </a:p>
        </p:txBody>
      </p:sp>
      <p:sp>
        <p:nvSpPr>
          <p:cNvPr id="6" name="Text 4"/>
          <p:cNvSpPr txBox="1"/>
          <p:nvPr/>
        </p:nvSpPr>
        <p:spPr>
          <a:xfrm>
            <a:off x="640080" y="2240280"/>
            <a:ext cx="8686800" cy="548640"/>
          </a:xfrm>
          <a:prstGeom prst="rect">
            <a:avLst/>
          </a:prstGeom>
          <a:noFill/>
          <a:ln/>
        </p:spPr>
        <p:txBody>
          <a:bodyPr wrap="square" lIns="0" tIns="0" rIns="0" bIns="0" rtlCol="0" anchor="ctr"/>
          <a:lstStyle/>
          <a:p>
            <a:pPr marL="0" indent="0">
              <a:buNone/>
            </a:pPr>
            <a:r>
              <a:rPr lang="en-US" sz="2600" dirty="0">
                <a:solidFill>
                  <a:srgbClr val="F4A261"/>
                </a:solidFill>
                <a:latin typeface="Calibri" pitchFamily="34" charset="0"/>
                <a:ea typeface="Calibri" pitchFamily="34" charset="-122"/>
                <a:cs typeface="Calibri" pitchFamily="34" charset="-120"/>
              </a:rPr>
              <a:t>B2B Textile Inventory and Sales Management System</a:t>
            </a:r>
            <a:endParaRPr lang="en-US" sz="2600" dirty="0"/>
          </a:p>
        </p:txBody>
      </p:sp>
      <p:sp>
        <p:nvSpPr>
          <p:cNvPr id="7" name="Text 5"/>
          <p:cNvSpPr txBox="1"/>
          <p:nvPr/>
        </p:nvSpPr>
        <p:spPr>
          <a:xfrm>
            <a:off x="640080" y="2926080"/>
            <a:ext cx="8686800" cy="3657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Data Management 1  |  Course Work  |  Diploma in Software Engineering 26.1F</a:t>
            </a:r>
            <a:endParaRPr lang="en-US" sz="1600" dirty="0"/>
          </a:p>
        </p:txBody>
      </p:sp>
      <p:sp>
        <p:nvSpPr>
          <p:cNvPr id="8" name="Shape 6"/>
          <p:cNvSpPr/>
          <p:nvPr/>
        </p:nvSpPr>
        <p:spPr>
          <a:xfrm>
            <a:off x="640080" y="3840480"/>
            <a:ext cx="6583680" cy="2286000"/>
          </a:xfrm>
          <a:prstGeom prst="roundRect">
            <a:avLst>
              <a:gd name="adj" fmla="val 4800"/>
            </a:avLst>
          </a:prstGeom>
          <a:solidFill>
            <a:srgbClr val="263759"/>
          </a:solidFill>
          <a:ln w="12700">
            <a:solidFill>
              <a:srgbClr val="263759"/>
            </a:solidFill>
            <a:prstDash val="solid"/>
          </a:ln>
        </p:spPr>
        <p:txBody>
          <a:bodyPr/>
          <a:lstStyle/>
          <a:p>
            <a:endParaRPr lang="en-BB"/>
          </a:p>
        </p:txBody>
      </p:sp>
      <p:sp>
        <p:nvSpPr>
          <p:cNvPr id="9" name="Text 7"/>
          <p:cNvSpPr txBox="1"/>
          <p:nvPr/>
        </p:nvSpPr>
        <p:spPr>
          <a:xfrm>
            <a:off x="914400" y="4023360"/>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S.R.R Moulana</a:t>
            </a:r>
            <a:endParaRPr lang="en-US" sz="1800" dirty="0"/>
          </a:p>
        </p:txBody>
      </p:sp>
      <p:sp>
        <p:nvSpPr>
          <p:cNvPr id="10" name="Text 8"/>
          <p:cNvSpPr txBox="1"/>
          <p:nvPr/>
        </p:nvSpPr>
        <p:spPr>
          <a:xfrm>
            <a:off x="4023360" y="4023360"/>
            <a:ext cx="2926080" cy="3657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CODSE261F-036</a:t>
            </a:r>
            <a:endParaRPr lang="en-US" sz="1600" dirty="0"/>
          </a:p>
        </p:txBody>
      </p:sp>
      <p:sp>
        <p:nvSpPr>
          <p:cNvPr id="11" name="Text 9"/>
          <p:cNvSpPr txBox="1"/>
          <p:nvPr/>
        </p:nvSpPr>
        <p:spPr>
          <a:xfrm>
            <a:off x="914400" y="4498848"/>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A.M.A Zimthi</a:t>
            </a:r>
            <a:endParaRPr lang="en-US" sz="1800" dirty="0"/>
          </a:p>
        </p:txBody>
      </p:sp>
      <p:sp>
        <p:nvSpPr>
          <p:cNvPr id="12" name="Text 10"/>
          <p:cNvSpPr txBox="1"/>
          <p:nvPr/>
        </p:nvSpPr>
        <p:spPr>
          <a:xfrm>
            <a:off x="4023360" y="4498848"/>
            <a:ext cx="2926080" cy="3657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CODSE261F-033</a:t>
            </a:r>
            <a:endParaRPr lang="en-US" sz="1600" dirty="0"/>
          </a:p>
        </p:txBody>
      </p:sp>
      <p:sp>
        <p:nvSpPr>
          <p:cNvPr id="13" name="Text 11"/>
          <p:cNvSpPr txBox="1"/>
          <p:nvPr/>
        </p:nvSpPr>
        <p:spPr>
          <a:xfrm>
            <a:off x="914400" y="4974336"/>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S.W Ekanayake</a:t>
            </a:r>
            <a:endParaRPr lang="en-US" sz="1800" dirty="0"/>
          </a:p>
        </p:txBody>
      </p:sp>
      <p:sp>
        <p:nvSpPr>
          <p:cNvPr id="14" name="Text 12"/>
          <p:cNvSpPr txBox="1"/>
          <p:nvPr/>
        </p:nvSpPr>
        <p:spPr>
          <a:xfrm>
            <a:off x="4023360" y="4974336"/>
            <a:ext cx="2926080" cy="3657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CODSE261F-040</a:t>
            </a:r>
            <a:endParaRPr lang="en-US" sz="1600" dirty="0"/>
          </a:p>
        </p:txBody>
      </p:sp>
      <p:sp>
        <p:nvSpPr>
          <p:cNvPr id="15" name="Text 13"/>
          <p:cNvSpPr txBox="1"/>
          <p:nvPr/>
        </p:nvSpPr>
        <p:spPr>
          <a:xfrm>
            <a:off x="914400" y="5449824"/>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K.P.H Dilruwan</a:t>
            </a:r>
            <a:endParaRPr lang="en-US" sz="1800" dirty="0"/>
          </a:p>
        </p:txBody>
      </p:sp>
      <p:sp>
        <p:nvSpPr>
          <p:cNvPr id="16" name="Text 14"/>
          <p:cNvSpPr txBox="1"/>
          <p:nvPr/>
        </p:nvSpPr>
        <p:spPr>
          <a:xfrm>
            <a:off x="4023360" y="5449824"/>
            <a:ext cx="2926080" cy="3657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CODSE261F-055</a:t>
            </a:r>
            <a:endParaRPr lang="en-US" sz="1600" dirty="0"/>
          </a:p>
        </p:txBody>
      </p:sp>
      <p:sp>
        <p:nvSpPr>
          <p:cNvPr id="17" name="Text 15"/>
          <p:cNvSpPr txBox="1"/>
          <p:nvPr/>
        </p:nvSpPr>
        <p:spPr>
          <a:xfrm>
            <a:off x="7680960" y="3977640"/>
            <a:ext cx="3931920" cy="36576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Lecturer: </a:t>
            </a:r>
            <a:r>
              <a:rPr lang="en-US" sz="1800" b="1" dirty="0">
                <a:solidFill>
                  <a:srgbClr val="FFFFFF"/>
                </a:solidFill>
                <a:latin typeface="Calibri" pitchFamily="34" charset="0"/>
                <a:ea typeface="Calibri" pitchFamily="34" charset="-122"/>
                <a:cs typeface="Calibri" pitchFamily="34" charset="-120"/>
              </a:rPr>
              <a:t>Mr. Shashika Bandara</a:t>
            </a:r>
            <a:endParaRPr lang="en-US" sz="1800" dirty="0"/>
          </a:p>
        </p:txBody>
      </p:sp>
      <p:sp>
        <p:nvSpPr>
          <p:cNvPr id="18" name="Text 16"/>
          <p:cNvSpPr txBox="1"/>
          <p:nvPr/>
        </p:nvSpPr>
        <p:spPr>
          <a:xfrm>
            <a:off x="7680960" y="4434840"/>
            <a:ext cx="3931920" cy="36576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04</a:t>
            </a:r>
            <a:r>
              <a:rPr lang="en-US" sz="1800" baseline="30000" dirty="0">
                <a:solidFill>
                  <a:srgbClr val="CADCFC"/>
                </a:solidFill>
                <a:latin typeface="Calibri" pitchFamily="34" charset="0"/>
                <a:ea typeface="Calibri" pitchFamily="34" charset="-122"/>
                <a:cs typeface="Calibri" pitchFamily="34" charset="-120"/>
              </a:rPr>
              <a:t>th</a:t>
            </a:r>
            <a:r>
              <a:rPr lang="en-US" sz="1800" dirty="0">
                <a:solidFill>
                  <a:srgbClr val="CADCFC"/>
                </a:solidFill>
                <a:latin typeface="Calibri" pitchFamily="34" charset="0"/>
                <a:ea typeface="Calibri" pitchFamily="34" charset="-122"/>
                <a:cs typeface="Calibri" pitchFamily="34" charset="-120"/>
              </a:rPr>
              <a:t>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Introduction and problem statement</a:t>
            </a:r>
            <a:endParaRPr lang="en-US" sz="3400" dirty="0"/>
          </a:p>
        </p:txBody>
      </p:sp>
      <p:sp>
        <p:nvSpPr>
          <p:cNvPr id="3" name="Text 1"/>
          <p:cNvSpPr txBox="1"/>
          <p:nvPr/>
        </p:nvSpPr>
        <p:spPr>
          <a:xfrm>
            <a:off x="548640" y="1188720"/>
            <a:ext cx="11064240" cy="777240"/>
          </a:xfrm>
          <a:prstGeom prst="rect">
            <a:avLst/>
          </a:prstGeom>
          <a:noFill/>
          <a:ln/>
        </p:spPr>
        <p:txBody>
          <a:bodyPr wrap="square" lIns="0" tIns="0" rIns="0" bIns="0" rtlCol="0" anchor="t"/>
          <a:lstStyle/>
          <a:p>
            <a:pPr marL="0" indent="0">
              <a:buNone/>
            </a:pPr>
            <a:r>
              <a:rPr lang="en-US" sz="1600" dirty="0">
                <a:solidFill>
                  <a:srgbClr val="1B2A49"/>
                </a:solidFill>
                <a:latin typeface="Calibri" pitchFamily="34" charset="0"/>
                <a:ea typeface="Calibri" pitchFamily="34" charset="-122"/>
                <a:cs typeface="Calibri" pitchFamily="34" charset="-120"/>
              </a:rPr>
              <a:t>Colour Selection is a B2B textile trading and reselling company. It buys bulk fabrics, thread and raw materials, stores them in regional warehouses and sells them to manufacturers, boutiques and clothing brands.</a:t>
            </a:r>
            <a:endParaRPr lang="en-US" sz="1600" dirty="0"/>
          </a:p>
        </p:txBody>
      </p:sp>
      <p:sp>
        <p:nvSpPr>
          <p:cNvPr id="4" name="Shape 2"/>
          <p:cNvSpPr/>
          <p:nvPr/>
        </p:nvSpPr>
        <p:spPr>
          <a:xfrm>
            <a:off x="1243584" y="2057400"/>
            <a:ext cx="822960" cy="822960"/>
          </a:xfrm>
          <a:prstGeom prst="ellipse">
            <a:avLst/>
          </a:prstGeom>
          <a:solidFill>
            <a:srgbClr val="2A9D8F"/>
          </a:solidFill>
          <a:ln w="12700">
            <a:solidFill>
              <a:srgbClr val="2A9D8F"/>
            </a:solidFill>
            <a:prstDash val="solid"/>
          </a:ln>
        </p:spPr>
        <p:txBody>
          <a:bodyPr/>
          <a:lstStyle/>
          <a:p>
            <a:endParaRPr lang="en-BB"/>
          </a:p>
        </p:txBody>
      </p:sp>
      <p:pic>
        <p:nvPicPr>
          <p:cNvPr id="5" name="Image 0" descr="preencoded.png"/>
          <p:cNvPicPr>
            <a:picLocks noChangeAspect="1"/>
          </p:cNvPicPr>
          <p:nvPr/>
        </p:nvPicPr>
        <p:blipFill>
          <a:blip r:embed="rId3"/>
          <a:stretch>
            <a:fillRect/>
          </a:stretch>
        </p:blipFill>
        <p:spPr>
          <a:xfrm>
            <a:off x="1449324" y="2263140"/>
            <a:ext cx="411480" cy="411480"/>
          </a:xfrm>
          <a:prstGeom prst="rect">
            <a:avLst/>
          </a:prstGeom>
        </p:spPr>
      </p:pic>
      <p:sp>
        <p:nvSpPr>
          <p:cNvPr id="6" name="Shape 3"/>
          <p:cNvSpPr/>
          <p:nvPr/>
        </p:nvSpPr>
        <p:spPr>
          <a:xfrm>
            <a:off x="2203704" y="2468880"/>
            <a:ext cx="1115568" cy="0"/>
          </a:xfrm>
          <a:prstGeom prst="line">
            <a:avLst/>
          </a:prstGeom>
          <a:noFill/>
          <a:ln w="25400">
            <a:solidFill>
              <a:srgbClr val="5B6B84"/>
            </a:solidFill>
            <a:prstDash val="solid"/>
            <a:tailEnd type="triangle"/>
          </a:ln>
        </p:spPr>
        <p:txBody>
          <a:bodyPr/>
          <a:lstStyle/>
          <a:p>
            <a:endParaRPr lang="en-BB"/>
          </a:p>
        </p:txBody>
      </p:sp>
      <p:sp>
        <p:nvSpPr>
          <p:cNvPr id="7" name="Text 4"/>
          <p:cNvSpPr txBox="1"/>
          <p:nvPr/>
        </p:nvSpPr>
        <p:spPr>
          <a:xfrm>
            <a:off x="603504" y="2971800"/>
            <a:ext cx="2103120" cy="320040"/>
          </a:xfrm>
          <a:prstGeom prst="rect">
            <a:avLst/>
          </a:prstGeom>
          <a:noFill/>
          <a:ln/>
        </p:spPr>
        <p:txBody>
          <a:bodyPr wrap="square" lIns="0" tIns="0" rIns="0" bIns="0" rtlCol="0" anchor="ctr"/>
          <a:lstStyle/>
          <a:p>
            <a:pPr marL="0" indent="0" algn="ctr">
              <a:buNone/>
            </a:pPr>
            <a:r>
              <a:rPr lang="en-US" sz="1600" b="1" dirty="0">
                <a:solidFill>
                  <a:srgbClr val="1B2A49"/>
                </a:solidFill>
                <a:latin typeface="Calibri" pitchFamily="34" charset="0"/>
                <a:ea typeface="Calibri" pitchFamily="34" charset="-122"/>
                <a:cs typeface="Calibri" pitchFamily="34" charset="-120"/>
              </a:rPr>
              <a:t>Suppliers</a:t>
            </a:r>
            <a:endParaRPr lang="en-US" sz="1600" dirty="0"/>
          </a:p>
        </p:txBody>
      </p:sp>
      <p:sp>
        <p:nvSpPr>
          <p:cNvPr id="8" name="Text 5"/>
          <p:cNvSpPr txBox="1"/>
          <p:nvPr/>
        </p:nvSpPr>
        <p:spPr>
          <a:xfrm>
            <a:off x="603504" y="3310128"/>
            <a:ext cx="2103120" cy="320040"/>
          </a:xfrm>
          <a:prstGeom prst="rect">
            <a:avLst/>
          </a:prstGeom>
          <a:noFill/>
          <a:ln/>
        </p:spPr>
        <p:txBody>
          <a:bodyPr wrap="square" lIns="0" tIns="0" rIns="0" bIns="0" rtlCol="0" anchor="ctr"/>
          <a:lstStyle/>
          <a:p>
            <a:pPr marL="0" indent="0" algn="ctr">
              <a:buNone/>
            </a:pPr>
            <a:r>
              <a:rPr lang="en-US" sz="1300" dirty="0">
                <a:solidFill>
                  <a:srgbClr val="5B6B84"/>
                </a:solidFill>
                <a:latin typeface="Calibri" pitchFamily="34" charset="0"/>
                <a:ea typeface="Calibri" pitchFamily="34" charset="-122"/>
                <a:cs typeface="Calibri" pitchFamily="34" charset="-120"/>
              </a:rPr>
              <a:t>Cotton, silk, linen, thread</a:t>
            </a:r>
            <a:endParaRPr lang="en-US" sz="1300" dirty="0"/>
          </a:p>
        </p:txBody>
      </p:sp>
      <p:sp>
        <p:nvSpPr>
          <p:cNvPr id="9" name="Shape 6"/>
          <p:cNvSpPr/>
          <p:nvPr/>
        </p:nvSpPr>
        <p:spPr>
          <a:xfrm>
            <a:off x="3456432" y="2057400"/>
            <a:ext cx="822960" cy="822960"/>
          </a:xfrm>
          <a:prstGeom prst="ellipse">
            <a:avLst/>
          </a:prstGeom>
          <a:solidFill>
            <a:srgbClr val="2A9D8F"/>
          </a:solidFill>
          <a:ln w="12700">
            <a:solidFill>
              <a:srgbClr val="2A9D8F"/>
            </a:solidFill>
            <a:prstDash val="solid"/>
          </a:ln>
        </p:spPr>
        <p:txBody>
          <a:bodyPr/>
          <a:lstStyle/>
          <a:p>
            <a:endParaRPr lang="en-BB"/>
          </a:p>
        </p:txBody>
      </p:sp>
      <p:pic>
        <p:nvPicPr>
          <p:cNvPr id="10" name="Image 1" descr="preencoded.png"/>
          <p:cNvPicPr>
            <a:picLocks noChangeAspect="1"/>
          </p:cNvPicPr>
          <p:nvPr/>
        </p:nvPicPr>
        <p:blipFill>
          <a:blip r:embed="rId4"/>
          <a:stretch>
            <a:fillRect/>
          </a:stretch>
        </p:blipFill>
        <p:spPr>
          <a:xfrm>
            <a:off x="3662172" y="2263140"/>
            <a:ext cx="411480" cy="411480"/>
          </a:xfrm>
          <a:prstGeom prst="rect">
            <a:avLst/>
          </a:prstGeom>
        </p:spPr>
      </p:pic>
      <p:sp>
        <p:nvSpPr>
          <p:cNvPr id="11" name="Shape 7"/>
          <p:cNvSpPr/>
          <p:nvPr/>
        </p:nvSpPr>
        <p:spPr>
          <a:xfrm>
            <a:off x="4416552" y="2468880"/>
            <a:ext cx="1115568" cy="0"/>
          </a:xfrm>
          <a:prstGeom prst="line">
            <a:avLst/>
          </a:prstGeom>
          <a:noFill/>
          <a:ln w="25400">
            <a:solidFill>
              <a:srgbClr val="5B6B84"/>
            </a:solidFill>
            <a:prstDash val="solid"/>
            <a:tailEnd type="triangle"/>
          </a:ln>
        </p:spPr>
        <p:txBody>
          <a:bodyPr/>
          <a:lstStyle/>
          <a:p>
            <a:endParaRPr lang="en-BB"/>
          </a:p>
        </p:txBody>
      </p:sp>
      <p:sp>
        <p:nvSpPr>
          <p:cNvPr id="12" name="Text 8"/>
          <p:cNvSpPr txBox="1"/>
          <p:nvPr/>
        </p:nvSpPr>
        <p:spPr>
          <a:xfrm>
            <a:off x="2816352" y="2971800"/>
            <a:ext cx="2103120" cy="320040"/>
          </a:xfrm>
          <a:prstGeom prst="rect">
            <a:avLst/>
          </a:prstGeom>
          <a:noFill/>
          <a:ln/>
        </p:spPr>
        <p:txBody>
          <a:bodyPr wrap="square" lIns="0" tIns="0" rIns="0" bIns="0" rtlCol="0" anchor="ctr"/>
          <a:lstStyle/>
          <a:p>
            <a:pPr marL="0" indent="0" algn="ctr">
              <a:buNone/>
            </a:pPr>
            <a:r>
              <a:rPr lang="en-US" sz="1600" b="1" dirty="0">
                <a:solidFill>
                  <a:srgbClr val="1B2A49"/>
                </a:solidFill>
                <a:latin typeface="Calibri" pitchFamily="34" charset="0"/>
                <a:ea typeface="Calibri" pitchFamily="34" charset="-122"/>
                <a:cs typeface="Calibri" pitchFamily="34" charset="-120"/>
              </a:rPr>
              <a:t>Warehouses</a:t>
            </a:r>
            <a:endParaRPr lang="en-US" sz="1600" dirty="0"/>
          </a:p>
        </p:txBody>
      </p:sp>
      <p:sp>
        <p:nvSpPr>
          <p:cNvPr id="13" name="Text 9"/>
          <p:cNvSpPr txBox="1"/>
          <p:nvPr/>
        </p:nvSpPr>
        <p:spPr>
          <a:xfrm>
            <a:off x="2816352" y="3310128"/>
            <a:ext cx="2103120" cy="320040"/>
          </a:xfrm>
          <a:prstGeom prst="rect">
            <a:avLst/>
          </a:prstGeom>
          <a:noFill/>
          <a:ln/>
        </p:spPr>
        <p:txBody>
          <a:bodyPr wrap="square" lIns="0" tIns="0" rIns="0" bIns="0" rtlCol="0" anchor="ctr"/>
          <a:lstStyle/>
          <a:p>
            <a:pPr marL="0" indent="0" algn="ctr">
              <a:buNone/>
            </a:pPr>
            <a:r>
              <a:rPr lang="en-US" sz="1300" dirty="0">
                <a:solidFill>
                  <a:srgbClr val="5B6B84"/>
                </a:solidFill>
                <a:latin typeface="Calibri" pitchFamily="34" charset="0"/>
                <a:ea typeface="Calibri" pitchFamily="34" charset="-122"/>
                <a:cs typeface="Calibri" pitchFamily="34" charset="-120"/>
              </a:rPr>
              <a:t>Regional stock locations</a:t>
            </a:r>
            <a:endParaRPr lang="en-US" sz="1300" dirty="0"/>
          </a:p>
        </p:txBody>
      </p:sp>
      <p:sp>
        <p:nvSpPr>
          <p:cNvPr id="14" name="Shape 10"/>
          <p:cNvSpPr/>
          <p:nvPr/>
        </p:nvSpPr>
        <p:spPr>
          <a:xfrm>
            <a:off x="5669280" y="2057400"/>
            <a:ext cx="822960" cy="822960"/>
          </a:xfrm>
          <a:prstGeom prst="ellipse">
            <a:avLst/>
          </a:prstGeom>
          <a:solidFill>
            <a:srgbClr val="E76F51"/>
          </a:solidFill>
          <a:ln w="12700">
            <a:solidFill>
              <a:srgbClr val="E76F51"/>
            </a:solidFill>
            <a:prstDash val="solid"/>
          </a:ln>
        </p:spPr>
        <p:txBody>
          <a:bodyPr/>
          <a:lstStyle/>
          <a:p>
            <a:endParaRPr lang="en-BB"/>
          </a:p>
        </p:txBody>
      </p:sp>
      <p:pic>
        <p:nvPicPr>
          <p:cNvPr id="15" name="Image 2" descr="preencoded.png"/>
          <p:cNvPicPr>
            <a:picLocks noChangeAspect="1"/>
          </p:cNvPicPr>
          <p:nvPr/>
        </p:nvPicPr>
        <p:blipFill>
          <a:blip r:embed="rId5"/>
          <a:stretch>
            <a:fillRect/>
          </a:stretch>
        </p:blipFill>
        <p:spPr>
          <a:xfrm>
            <a:off x="5875020" y="2263140"/>
            <a:ext cx="411480" cy="411480"/>
          </a:xfrm>
          <a:prstGeom prst="rect">
            <a:avLst/>
          </a:prstGeom>
        </p:spPr>
      </p:pic>
      <p:sp>
        <p:nvSpPr>
          <p:cNvPr id="16" name="Shape 11"/>
          <p:cNvSpPr/>
          <p:nvPr/>
        </p:nvSpPr>
        <p:spPr>
          <a:xfrm>
            <a:off x="6629400" y="2468880"/>
            <a:ext cx="1115568" cy="0"/>
          </a:xfrm>
          <a:prstGeom prst="line">
            <a:avLst/>
          </a:prstGeom>
          <a:noFill/>
          <a:ln w="25400">
            <a:solidFill>
              <a:srgbClr val="5B6B84"/>
            </a:solidFill>
            <a:prstDash val="solid"/>
            <a:tailEnd type="triangle"/>
          </a:ln>
        </p:spPr>
        <p:txBody>
          <a:bodyPr/>
          <a:lstStyle/>
          <a:p>
            <a:endParaRPr lang="en-BB"/>
          </a:p>
        </p:txBody>
      </p:sp>
      <p:sp>
        <p:nvSpPr>
          <p:cNvPr id="17" name="Text 12"/>
          <p:cNvSpPr txBox="1"/>
          <p:nvPr/>
        </p:nvSpPr>
        <p:spPr>
          <a:xfrm>
            <a:off x="5029200" y="2971800"/>
            <a:ext cx="2103120" cy="320040"/>
          </a:xfrm>
          <a:prstGeom prst="rect">
            <a:avLst/>
          </a:prstGeom>
          <a:noFill/>
          <a:ln/>
        </p:spPr>
        <p:txBody>
          <a:bodyPr wrap="square" lIns="0" tIns="0" rIns="0" bIns="0" rtlCol="0" anchor="ctr"/>
          <a:lstStyle/>
          <a:p>
            <a:pPr marL="0" indent="0" algn="ctr">
              <a:buNone/>
            </a:pPr>
            <a:r>
              <a:rPr lang="en-US" sz="1600" b="1" dirty="0">
                <a:solidFill>
                  <a:srgbClr val="1B2A49"/>
                </a:solidFill>
                <a:latin typeface="Calibri" pitchFamily="34" charset="0"/>
                <a:ea typeface="Calibri" pitchFamily="34" charset="-122"/>
                <a:cs typeface="Calibri" pitchFamily="34" charset="-120"/>
              </a:rPr>
              <a:t>Colour Selection</a:t>
            </a:r>
            <a:endParaRPr lang="en-US" sz="1600" dirty="0"/>
          </a:p>
        </p:txBody>
      </p:sp>
      <p:sp>
        <p:nvSpPr>
          <p:cNvPr id="18" name="Text 13"/>
          <p:cNvSpPr txBox="1"/>
          <p:nvPr/>
        </p:nvSpPr>
        <p:spPr>
          <a:xfrm>
            <a:off x="5029200" y="3310128"/>
            <a:ext cx="2103120" cy="320040"/>
          </a:xfrm>
          <a:prstGeom prst="rect">
            <a:avLst/>
          </a:prstGeom>
          <a:noFill/>
          <a:ln/>
        </p:spPr>
        <p:txBody>
          <a:bodyPr wrap="square" lIns="0" tIns="0" rIns="0" bIns="0" rtlCol="0" anchor="ctr"/>
          <a:lstStyle/>
          <a:p>
            <a:pPr marL="0" indent="0" algn="ctr">
              <a:buNone/>
            </a:pPr>
            <a:r>
              <a:rPr lang="en-US" sz="1300" dirty="0">
                <a:solidFill>
                  <a:srgbClr val="5B6B84"/>
                </a:solidFill>
                <a:latin typeface="Calibri" pitchFamily="34" charset="0"/>
                <a:ea typeface="Calibri" pitchFamily="34" charset="-122"/>
                <a:cs typeface="Calibri" pitchFamily="34" charset="-120"/>
              </a:rPr>
              <a:t>Buys, stores and resells</a:t>
            </a:r>
            <a:endParaRPr lang="en-US" sz="1300" dirty="0"/>
          </a:p>
        </p:txBody>
      </p:sp>
      <p:sp>
        <p:nvSpPr>
          <p:cNvPr id="19" name="Shape 14"/>
          <p:cNvSpPr/>
          <p:nvPr/>
        </p:nvSpPr>
        <p:spPr>
          <a:xfrm>
            <a:off x="7882128" y="2057400"/>
            <a:ext cx="822960" cy="822960"/>
          </a:xfrm>
          <a:prstGeom prst="ellipse">
            <a:avLst/>
          </a:prstGeom>
          <a:solidFill>
            <a:srgbClr val="2A9D8F"/>
          </a:solidFill>
          <a:ln w="12700">
            <a:solidFill>
              <a:srgbClr val="2A9D8F"/>
            </a:solidFill>
            <a:prstDash val="solid"/>
          </a:ln>
        </p:spPr>
        <p:txBody>
          <a:bodyPr/>
          <a:lstStyle/>
          <a:p>
            <a:endParaRPr lang="en-BB"/>
          </a:p>
        </p:txBody>
      </p:sp>
      <p:pic>
        <p:nvPicPr>
          <p:cNvPr id="20" name="Image 3" descr="preencoded.png"/>
          <p:cNvPicPr>
            <a:picLocks noChangeAspect="1"/>
          </p:cNvPicPr>
          <p:nvPr/>
        </p:nvPicPr>
        <p:blipFill>
          <a:blip r:embed="rId6"/>
          <a:stretch>
            <a:fillRect/>
          </a:stretch>
        </p:blipFill>
        <p:spPr>
          <a:xfrm>
            <a:off x="8087868" y="2263140"/>
            <a:ext cx="411480" cy="411480"/>
          </a:xfrm>
          <a:prstGeom prst="rect">
            <a:avLst/>
          </a:prstGeom>
        </p:spPr>
      </p:pic>
      <p:sp>
        <p:nvSpPr>
          <p:cNvPr id="21" name="Shape 15"/>
          <p:cNvSpPr/>
          <p:nvPr/>
        </p:nvSpPr>
        <p:spPr>
          <a:xfrm>
            <a:off x="8842248" y="2468880"/>
            <a:ext cx="1115568" cy="0"/>
          </a:xfrm>
          <a:prstGeom prst="line">
            <a:avLst/>
          </a:prstGeom>
          <a:noFill/>
          <a:ln w="25400">
            <a:solidFill>
              <a:srgbClr val="5B6B84"/>
            </a:solidFill>
            <a:prstDash val="solid"/>
            <a:tailEnd type="triangle"/>
          </a:ln>
        </p:spPr>
        <p:txBody>
          <a:bodyPr/>
          <a:lstStyle/>
          <a:p>
            <a:endParaRPr lang="en-BB"/>
          </a:p>
        </p:txBody>
      </p:sp>
      <p:sp>
        <p:nvSpPr>
          <p:cNvPr id="22" name="Text 16"/>
          <p:cNvSpPr txBox="1"/>
          <p:nvPr/>
        </p:nvSpPr>
        <p:spPr>
          <a:xfrm>
            <a:off x="7242048" y="2971800"/>
            <a:ext cx="2103120" cy="320040"/>
          </a:xfrm>
          <a:prstGeom prst="rect">
            <a:avLst/>
          </a:prstGeom>
          <a:noFill/>
          <a:ln/>
        </p:spPr>
        <p:txBody>
          <a:bodyPr wrap="square" lIns="0" tIns="0" rIns="0" bIns="0" rtlCol="0" anchor="ctr"/>
          <a:lstStyle/>
          <a:p>
            <a:pPr marL="0" indent="0" algn="ctr">
              <a:buNone/>
            </a:pPr>
            <a:r>
              <a:rPr lang="en-US" sz="1600" b="1" dirty="0">
                <a:solidFill>
                  <a:srgbClr val="1B2A49"/>
                </a:solidFill>
                <a:latin typeface="Calibri" pitchFamily="34" charset="0"/>
                <a:ea typeface="Calibri" pitchFamily="34" charset="-122"/>
                <a:cs typeface="Calibri" pitchFamily="34" charset="-120"/>
              </a:rPr>
              <a:t>Customers</a:t>
            </a:r>
            <a:endParaRPr lang="en-US" sz="1600" dirty="0"/>
          </a:p>
        </p:txBody>
      </p:sp>
      <p:sp>
        <p:nvSpPr>
          <p:cNvPr id="23" name="Text 17"/>
          <p:cNvSpPr txBox="1"/>
          <p:nvPr/>
        </p:nvSpPr>
        <p:spPr>
          <a:xfrm>
            <a:off x="7242048" y="3310128"/>
            <a:ext cx="2103120" cy="320040"/>
          </a:xfrm>
          <a:prstGeom prst="rect">
            <a:avLst/>
          </a:prstGeom>
          <a:noFill/>
          <a:ln/>
        </p:spPr>
        <p:txBody>
          <a:bodyPr wrap="square" lIns="0" tIns="0" rIns="0" bIns="0" rtlCol="0" anchor="ctr"/>
          <a:lstStyle/>
          <a:p>
            <a:pPr marL="0" indent="0" algn="ctr">
              <a:buNone/>
            </a:pPr>
            <a:r>
              <a:rPr lang="en-US" sz="1300" dirty="0">
                <a:solidFill>
                  <a:srgbClr val="5B6B84"/>
                </a:solidFill>
                <a:latin typeface="Calibri" pitchFamily="34" charset="0"/>
                <a:ea typeface="Calibri" pitchFamily="34" charset="-122"/>
                <a:cs typeface="Calibri" pitchFamily="34" charset="-120"/>
              </a:rPr>
              <a:t>Manufacturers and brands</a:t>
            </a:r>
            <a:endParaRPr lang="en-US" sz="1300" dirty="0"/>
          </a:p>
        </p:txBody>
      </p:sp>
      <p:sp>
        <p:nvSpPr>
          <p:cNvPr id="24" name="Shape 18"/>
          <p:cNvSpPr/>
          <p:nvPr/>
        </p:nvSpPr>
        <p:spPr>
          <a:xfrm>
            <a:off x="10094976" y="2057400"/>
            <a:ext cx="822960" cy="822960"/>
          </a:xfrm>
          <a:prstGeom prst="ellipse">
            <a:avLst/>
          </a:prstGeom>
          <a:solidFill>
            <a:srgbClr val="2A9D8F"/>
          </a:solidFill>
          <a:ln w="12700">
            <a:solidFill>
              <a:srgbClr val="2A9D8F"/>
            </a:solidFill>
            <a:prstDash val="solid"/>
          </a:ln>
        </p:spPr>
        <p:txBody>
          <a:bodyPr/>
          <a:lstStyle/>
          <a:p>
            <a:endParaRPr lang="en-BB"/>
          </a:p>
        </p:txBody>
      </p:sp>
      <p:pic>
        <p:nvPicPr>
          <p:cNvPr id="25" name="Image 4" descr="preencoded.png"/>
          <p:cNvPicPr>
            <a:picLocks noChangeAspect="1"/>
          </p:cNvPicPr>
          <p:nvPr/>
        </p:nvPicPr>
        <p:blipFill>
          <a:blip r:embed="rId7"/>
          <a:stretch>
            <a:fillRect/>
          </a:stretch>
        </p:blipFill>
        <p:spPr>
          <a:xfrm>
            <a:off x="10300716" y="2263140"/>
            <a:ext cx="411480" cy="411480"/>
          </a:xfrm>
          <a:prstGeom prst="rect">
            <a:avLst/>
          </a:prstGeom>
        </p:spPr>
      </p:pic>
      <p:sp>
        <p:nvSpPr>
          <p:cNvPr id="26" name="Text 19"/>
          <p:cNvSpPr txBox="1"/>
          <p:nvPr/>
        </p:nvSpPr>
        <p:spPr>
          <a:xfrm>
            <a:off x="9454896" y="2971800"/>
            <a:ext cx="2103120" cy="320040"/>
          </a:xfrm>
          <a:prstGeom prst="rect">
            <a:avLst/>
          </a:prstGeom>
          <a:noFill/>
          <a:ln/>
        </p:spPr>
        <p:txBody>
          <a:bodyPr wrap="square" lIns="0" tIns="0" rIns="0" bIns="0" rtlCol="0" anchor="ctr"/>
          <a:lstStyle/>
          <a:p>
            <a:pPr marL="0" indent="0" algn="ctr">
              <a:buNone/>
            </a:pPr>
            <a:r>
              <a:rPr lang="en-US" sz="1600" b="1" dirty="0">
                <a:solidFill>
                  <a:srgbClr val="1B2A49"/>
                </a:solidFill>
                <a:latin typeface="Calibri" pitchFamily="34" charset="0"/>
                <a:ea typeface="Calibri" pitchFamily="34" charset="-122"/>
                <a:cs typeface="Calibri" pitchFamily="34" charset="-120"/>
              </a:rPr>
              <a:t>Billing</a:t>
            </a:r>
            <a:endParaRPr lang="en-US" sz="1600" dirty="0"/>
          </a:p>
        </p:txBody>
      </p:sp>
      <p:sp>
        <p:nvSpPr>
          <p:cNvPr id="27" name="Text 20"/>
          <p:cNvSpPr txBox="1"/>
          <p:nvPr/>
        </p:nvSpPr>
        <p:spPr>
          <a:xfrm>
            <a:off x="9454896" y="3310128"/>
            <a:ext cx="2103120" cy="320040"/>
          </a:xfrm>
          <a:prstGeom prst="rect">
            <a:avLst/>
          </a:prstGeom>
          <a:noFill/>
          <a:ln/>
        </p:spPr>
        <p:txBody>
          <a:bodyPr wrap="square" lIns="0" tIns="0" rIns="0" bIns="0" rtlCol="0" anchor="ctr"/>
          <a:lstStyle/>
          <a:p>
            <a:pPr marL="0" indent="0" algn="ctr">
              <a:buNone/>
            </a:pPr>
            <a:r>
              <a:rPr lang="en-US" sz="1300" dirty="0">
                <a:solidFill>
                  <a:srgbClr val="5B6B84"/>
                </a:solidFill>
                <a:latin typeface="Calibri" pitchFamily="34" charset="0"/>
                <a:ea typeface="Calibri" pitchFamily="34" charset="-122"/>
                <a:cs typeface="Calibri" pitchFamily="34" charset="-120"/>
              </a:rPr>
              <a:t>Orders, invoices, payments</a:t>
            </a:r>
            <a:endParaRPr lang="en-US" sz="1300" dirty="0"/>
          </a:p>
        </p:txBody>
      </p:sp>
      <p:sp>
        <p:nvSpPr>
          <p:cNvPr id="28" name="Text 21"/>
          <p:cNvSpPr txBox="1"/>
          <p:nvPr/>
        </p:nvSpPr>
        <p:spPr>
          <a:xfrm>
            <a:off x="548640" y="3931920"/>
            <a:ext cx="11064240" cy="365760"/>
          </a:xfrm>
          <a:prstGeom prst="rect">
            <a:avLst/>
          </a:prstGeom>
          <a:noFill/>
          <a:ln/>
        </p:spPr>
        <p:txBody>
          <a:bodyPr wrap="square" lIns="0" tIns="0" rIns="0" bIns="0" rtlCol="0" anchor="ctr"/>
          <a:lstStyle/>
          <a:p>
            <a:pPr marL="0" indent="0">
              <a:buNone/>
            </a:pPr>
            <a:r>
              <a:rPr lang="en-US" sz="1800" b="1" dirty="0">
                <a:solidFill>
                  <a:srgbClr val="E76F51"/>
                </a:solidFill>
                <a:latin typeface="Cambria" pitchFamily="34" charset="0"/>
                <a:ea typeface="Cambria" pitchFamily="34" charset="-122"/>
                <a:cs typeface="Cambria" pitchFamily="34" charset="-120"/>
              </a:rPr>
              <a:t>The problem: fragmented spreadsheets and manual ledgers</a:t>
            </a:r>
            <a:endParaRPr lang="en-US" sz="1800" dirty="0"/>
          </a:p>
        </p:txBody>
      </p:sp>
      <p:sp>
        <p:nvSpPr>
          <p:cNvPr id="29" name="Shape 22"/>
          <p:cNvSpPr/>
          <p:nvPr/>
        </p:nvSpPr>
        <p:spPr>
          <a:xfrm>
            <a:off x="548640" y="4434840"/>
            <a:ext cx="3520440" cy="1417320"/>
          </a:xfrm>
          <a:prstGeom prst="roundRect">
            <a:avLst>
              <a:gd name="adj" fmla="val 7742"/>
            </a:avLst>
          </a:prstGeom>
          <a:solidFill>
            <a:srgbClr val="EEF2F8"/>
          </a:solidFill>
          <a:ln w="12700">
            <a:solidFill>
              <a:srgbClr val="EEF2F8"/>
            </a:solidFill>
            <a:prstDash val="solid"/>
          </a:ln>
        </p:spPr>
        <p:txBody>
          <a:bodyPr/>
          <a:lstStyle/>
          <a:p>
            <a:endParaRPr lang="en-BB"/>
          </a:p>
        </p:txBody>
      </p:sp>
      <p:sp>
        <p:nvSpPr>
          <p:cNvPr id="30" name="Shape 23"/>
          <p:cNvSpPr/>
          <p:nvPr/>
        </p:nvSpPr>
        <p:spPr>
          <a:xfrm>
            <a:off x="731520" y="4663440"/>
            <a:ext cx="594360" cy="594360"/>
          </a:xfrm>
          <a:prstGeom prst="ellipse">
            <a:avLst/>
          </a:prstGeom>
          <a:solidFill>
            <a:srgbClr val="E76F51"/>
          </a:solidFill>
          <a:ln w="12700">
            <a:solidFill>
              <a:srgbClr val="E76F51"/>
            </a:solidFill>
            <a:prstDash val="solid"/>
          </a:ln>
        </p:spPr>
        <p:txBody>
          <a:bodyPr/>
          <a:lstStyle/>
          <a:p>
            <a:endParaRPr lang="en-BB"/>
          </a:p>
        </p:txBody>
      </p:sp>
      <p:pic>
        <p:nvPicPr>
          <p:cNvPr id="31" name="Image 5" descr="preencoded.png"/>
          <p:cNvPicPr>
            <a:picLocks noChangeAspect="1"/>
          </p:cNvPicPr>
          <p:nvPr/>
        </p:nvPicPr>
        <p:blipFill>
          <a:blip r:embed="rId8"/>
          <a:stretch>
            <a:fillRect/>
          </a:stretch>
        </p:blipFill>
        <p:spPr>
          <a:xfrm>
            <a:off x="880110" y="4812030"/>
            <a:ext cx="297180" cy="297180"/>
          </a:xfrm>
          <a:prstGeom prst="rect">
            <a:avLst/>
          </a:prstGeom>
        </p:spPr>
      </p:pic>
      <p:sp>
        <p:nvSpPr>
          <p:cNvPr id="32" name="Text 24"/>
          <p:cNvSpPr txBox="1"/>
          <p:nvPr/>
        </p:nvSpPr>
        <p:spPr>
          <a:xfrm>
            <a:off x="1463040" y="4526280"/>
            <a:ext cx="2514600" cy="365760"/>
          </a:xfrm>
          <a:prstGeom prst="rect">
            <a:avLst/>
          </a:prstGeom>
          <a:noFill/>
          <a:ln/>
        </p:spPr>
        <p:txBody>
          <a:bodyPr wrap="square" lIns="0" tIns="0" rIns="0" bIns="0" rtlCol="0" anchor="ctr"/>
          <a:lstStyle/>
          <a:p>
            <a:pPr marL="0" indent="0">
              <a:buNone/>
            </a:pPr>
            <a:r>
              <a:rPr lang="en-US" sz="1500" b="1" dirty="0">
                <a:solidFill>
                  <a:srgbClr val="1B2A49"/>
                </a:solidFill>
                <a:latin typeface="Cambria" pitchFamily="34" charset="0"/>
                <a:ea typeface="Cambria" pitchFamily="34" charset="-122"/>
                <a:cs typeface="Cambria" pitchFamily="34" charset="-120"/>
              </a:rPr>
              <a:t>Inventory blind spots</a:t>
            </a:r>
            <a:endParaRPr lang="en-US" sz="1500" dirty="0"/>
          </a:p>
        </p:txBody>
      </p:sp>
      <p:sp>
        <p:nvSpPr>
          <p:cNvPr id="33" name="Text 25"/>
          <p:cNvSpPr txBox="1"/>
          <p:nvPr/>
        </p:nvSpPr>
        <p:spPr>
          <a:xfrm>
            <a:off x="1463040" y="4892040"/>
            <a:ext cx="2468880" cy="914400"/>
          </a:xfrm>
          <a:prstGeom prst="rect">
            <a:avLst/>
          </a:prstGeom>
          <a:noFill/>
          <a:ln/>
        </p:spPr>
        <p:txBody>
          <a:bodyPr wrap="square" lIns="0" tIns="0" rIns="0" bIns="0" rtlCol="0" anchor="t"/>
          <a:lstStyle/>
          <a:p>
            <a:pPr marL="0" indent="0">
              <a:buNone/>
            </a:pPr>
            <a:r>
              <a:rPr lang="en-US" sz="1250" dirty="0">
                <a:solidFill>
                  <a:srgbClr val="1B2A49"/>
                </a:solidFill>
                <a:latin typeface="Calibri" pitchFamily="34" charset="0"/>
                <a:ea typeface="Calibri" pitchFamily="34" charset="-122"/>
                <a:cs typeface="Calibri" pitchFamily="34" charset="-120"/>
              </a:rPr>
              <a:t>Stock across warehouses cannot be seen in one place, so items are oversold or run out.</a:t>
            </a:r>
            <a:endParaRPr lang="en-US" sz="1250" dirty="0"/>
          </a:p>
        </p:txBody>
      </p:sp>
      <p:sp>
        <p:nvSpPr>
          <p:cNvPr id="34" name="Shape 26"/>
          <p:cNvSpPr/>
          <p:nvPr/>
        </p:nvSpPr>
        <p:spPr>
          <a:xfrm>
            <a:off x="4320540" y="4434840"/>
            <a:ext cx="3520440" cy="1417320"/>
          </a:xfrm>
          <a:prstGeom prst="roundRect">
            <a:avLst>
              <a:gd name="adj" fmla="val 7742"/>
            </a:avLst>
          </a:prstGeom>
          <a:solidFill>
            <a:srgbClr val="EEF2F8"/>
          </a:solidFill>
          <a:ln w="12700">
            <a:solidFill>
              <a:srgbClr val="EEF2F8"/>
            </a:solidFill>
            <a:prstDash val="solid"/>
          </a:ln>
        </p:spPr>
        <p:txBody>
          <a:bodyPr/>
          <a:lstStyle/>
          <a:p>
            <a:endParaRPr lang="en-BB"/>
          </a:p>
        </p:txBody>
      </p:sp>
      <p:sp>
        <p:nvSpPr>
          <p:cNvPr id="35" name="Shape 27"/>
          <p:cNvSpPr/>
          <p:nvPr/>
        </p:nvSpPr>
        <p:spPr>
          <a:xfrm>
            <a:off x="4503420" y="4663440"/>
            <a:ext cx="594360" cy="594360"/>
          </a:xfrm>
          <a:prstGeom prst="ellipse">
            <a:avLst/>
          </a:prstGeom>
          <a:solidFill>
            <a:srgbClr val="E76F51"/>
          </a:solidFill>
          <a:ln w="12700">
            <a:solidFill>
              <a:srgbClr val="E76F51"/>
            </a:solidFill>
            <a:prstDash val="solid"/>
          </a:ln>
        </p:spPr>
        <p:txBody>
          <a:bodyPr/>
          <a:lstStyle/>
          <a:p>
            <a:endParaRPr lang="en-BB"/>
          </a:p>
        </p:txBody>
      </p:sp>
      <p:pic>
        <p:nvPicPr>
          <p:cNvPr id="36" name="Image 6" descr="preencoded.png"/>
          <p:cNvPicPr>
            <a:picLocks noChangeAspect="1"/>
          </p:cNvPicPr>
          <p:nvPr/>
        </p:nvPicPr>
        <p:blipFill>
          <a:blip r:embed="rId9"/>
          <a:stretch>
            <a:fillRect/>
          </a:stretch>
        </p:blipFill>
        <p:spPr>
          <a:xfrm>
            <a:off x="4652010" y="4812030"/>
            <a:ext cx="297180" cy="297180"/>
          </a:xfrm>
          <a:prstGeom prst="rect">
            <a:avLst/>
          </a:prstGeom>
        </p:spPr>
      </p:pic>
      <p:sp>
        <p:nvSpPr>
          <p:cNvPr id="37" name="Text 28"/>
          <p:cNvSpPr txBox="1"/>
          <p:nvPr/>
        </p:nvSpPr>
        <p:spPr>
          <a:xfrm>
            <a:off x="5234940" y="4526280"/>
            <a:ext cx="2514600" cy="365760"/>
          </a:xfrm>
          <a:prstGeom prst="rect">
            <a:avLst/>
          </a:prstGeom>
          <a:noFill/>
          <a:ln/>
        </p:spPr>
        <p:txBody>
          <a:bodyPr wrap="square" lIns="0" tIns="0" rIns="0" bIns="0" rtlCol="0" anchor="ctr"/>
          <a:lstStyle/>
          <a:p>
            <a:pPr marL="0" indent="0">
              <a:buNone/>
            </a:pPr>
            <a:r>
              <a:rPr lang="en-US" sz="1500" b="1" dirty="0">
                <a:solidFill>
                  <a:srgbClr val="1B2A49"/>
                </a:solidFill>
                <a:latin typeface="Cambria" pitchFamily="34" charset="0"/>
                <a:ea typeface="Cambria" pitchFamily="34" charset="-122"/>
                <a:cs typeface="Cambria" pitchFamily="34" charset="-120"/>
              </a:rPr>
              <a:t>Disconnected billing</a:t>
            </a:r>
            <a:endParaRPr lang="en-US" sz="1500" dirty="0"/>
          </a:p>
        </p:txBody>
      </p:sp>
      <p:sp>
        <p:nvSpPr>
          <p:cNvPr id="38" name="Text 29"/>
          <p:cNvSpPr txBox="1"/>
          <p:nvPr/>
        </p:nvSpPr>
        <p:spPr>
          <a:xfrm>
            <a:off x="5234940" y="4892040"/>
            <a:ext cx="2468880" cy="914400"/>
          </a:xfrm>
          <a:prstGeom prst="rect">
            <a:avLst/>
          </a:prstGeom>
          <a:noFill/>
          <a:ln/>
        </p:spPr>
        <p:txBody>
          <a:bodyPr wrap="square" lIns="0" tIns="0" rIns="0" bIns="0" rtlCol="0" anchor="t"/>
          <a:lstStyle/>
          <a:p>
            <a:pPr marL="0" indent="0">
              <a:buNone/>
            </a:pPr>
            <a:r>
              <a:rPr lang="en-US" sz="1250" dirty="0">
                <a:solidFill>
                  <a:srgbClr val="1B2A49"/>
                </a:solidFill>
                <a:latin typeface="Calibri" pitchFamily="34" charset="0"/>
                <a:ea typeface="Calibri" pitchFamily="34" charset="-122"/>
                <a:cs typeface="Calibri" pitchFamily="34" charset="-120"/>
              </a:rPr>
              <a:t>Orders, invoices and payments are recorded separately, so unpaid invoices are hard to find.</a:t>
            </a:r>
            <a:endParaRPr lang="en-US" sz="1250" dirty="0"/>
          </a:p>
        </p:txBody>
      </p:sp>
      <p:sp>
        <p:nvSpPr>
          <p:cNvPr id="39" name="Shape 30"/>
          <p:cNvSpPr/>
          <p:nvPr/>
        </p:nvSpPr>
        <p:spPr>
          <a:xfrm>
            <a:off x="8092440" y="4434840"/>
            <a:ext cx="3520440" cy="1417320"/>
          </a:xfrm>
          <a:prstGeom prst="roundRect">
            <a:avLst>
              <a:gd name="adj" fmla="val 7742"/>
            </a:avLst>
          </a:prstGeom>
          <a:solidFill>
            <a:srgbClr val="EEF2F8"/>
          </a:solidFill>
          <a:ln w="12700">
            <a:solidFill>
              <a:srgbClr val="EEF2F8"/>
            </a:solidFill>
            <a:prstDash val="solid"/>
          </a:ln>
        </p:spPr>
        <p:txBody>
          <a:bodyPr/>
          <a:lstStyle/>
          <a:p>
            <a:endParaRPr lang="en-BB"/>
          </a:p>
        </p:txBody>
      </p:sp>
      <p:sp>
        <p:nvSpPr>
          <p:cNvPr id="40" name="Shape 31"/>
          <p:cNvSpPr/>
          <p:nvPr/>
        </p:nvSpPr>
        <p:spPr>
          <a:xfrm>
            <a:off x="8275320" y="4663440"/>
            <a:ext cx="594360" cy="594360"/>
          </a:xfrm>
          <a:prstGeom prst="ellipse">
            <a:avLst/>
          </a:prstGeom>
          <a:solidFill>
            <a:srgbClr val="E76F51"/>
          </a:solidFill>
          <a:ln w="12700">
            <a:solidFill>
              <a:srgbClr val="E76F51"/>
            </a:solidFill>
            <a:prstDash val="solid"/>
          </a:ln>
        </p:spPr>
        <p:txBody>
          <a:bodyPr/>
          <a:lstStyle/>
          <a:p>
            <a:endParaRPr lang="en-BB"/>
          </a:p>
        </p:txBody>
      </p:sp>
      <p:pic>
        <p:nvPicPr>
          <p:cNvPr id="41" name="Image 7" descr="preencoded.png"/>
          <p:cNvPicPr>
            <a:picLocks noChangeAspect="1"/>
          </p:cNvPicPr>
          <p:nvPr/>
        </p:nvPicPr>
        <p:blipFill>
          <a:blip r:embed="rId10"/>
          <a:stretch>
            <a:fillRect/>
          </a:stretch>
        </p:blipFill>
        <p:spPr>
          <a:xfrm>
            <a:off x="8423910" y="4812030"/>
            <a:ext cx="297180" cy="297180"/>
          </a:xfrm>
          <a:prstGeom prst="rect">
            <a:avLst/>
          </a:prstGeom>
        </p:spPr>
      </p:pic>
      <p:sp>
        <p:nvSpPr>
          <p:cNvPr id="42" name="Text 32"/>
          <p:cNvSpPr txBox="1"/>
          <p:nvPr/>
        </p:nvSpPr>
        <p:spPr>
          <a:xfrm>
            <a:off x="9006840" y="4526280"/>
            <a:ext cx="2514600" cy="365760"/>
          </a:xfrm>
          <a:prstGeom prst="rect">
            <a:avLst/>
          </a:prstGeom>
          <a:noFill/>
          <a:ln/>
        </p:spPr>
        <p:txBody>
          <a:bodyPr wrap="square" lIns="0" tIns="0" rIns="0" bIns="0" rtlCol="0" anchor="ctr"/>
          <a:lstStyle/>
          <a:p>
            <a:pPr marL="0" indent="0">
              <a:buNone/>
            </a:pPr>
            <a:r>
              <a:rPr lang="en-US" sz="1500" b="1" dirty="0">
                <a:solidFill>
                  <a:srgbClr val="1B2A49"/>
                </a:solidFill>
                <a:latin typeface="Cambria" pitchFamily="34" charset="0"/>
                <a:ea typeface="Cambria" pitchFamily="34" charset="-122"/>
                <a:cs typeface="Cambria" pitchFamily="34" charset="-120"/>
              </a:rPr>
              <a:t>Supplier mismanagement</a:t>
            </a:r>
            <a:endParaRPr lang="en-US" sz="1500" dirty="0"/>
          </a:p>
        </p:txBody>
      </p:sp>
      <p:sp>
        <p:nvSpPr>
          <p:cNvPr id="43" name="Text 33"/>
          <p:cNvSpPr txBox="1"/>
          <p:nvPr/>
        </p:nvSpPr>
        <p:spPr>
          <a:xfrm>
            <a:off x="9006840" y="4892040"/>
            <a:ext cx="2468880" cy="914400"/>
          </a:xfrm>
          <a:prstGeom prst="rect">
            <a:avLst/>
          </a:prstGeom>
          <a:noFill/>
          <a:ln/>
        </p:spPr>
        <p:txBody>
          <a:bodyPr wrap="square" lIns="0" tIns="0" rIns="0" bIns="0" rtlCol="0" anchor="t"/>
          <a:lstStyle/>
          <a:p>
            <a:pPr marL="0" indent="0">
              <a:buNone/>
            </a:pPr>
            <a:r>
              <a:rPr lang="en-US" sz="1250" dirty="0">
                <a:solidFill>
                  <a:srgbClr val="1B2A49"/>
                </a:solidFill>
                <a:latin typeface="Calibri" pitchFamily="34" charset="0"/>
                <a:ea typeface="Calibri" pitchFamily="34" charset="-122"/>
                <a:cs typeface="Calibri" pitchFamily="34" charset="-120"/>
              </a:rPr>
              <a:t>No central link between a product and its supplier delays reordering.</a:t>
            </a:r>
            <a:endParaRPr lang="en-US" sz="1250" dirty="0"/>
          </a:p>
        </p:txBody>
      </p:sp>
      <p:sp>
        <p:nvSpPr>
          <p:cNvPr id="44" name="Shape 34"/>
          <p:cNvSpPr/>
          <p:nvPr/>
        </p:nvSpPr>
        <p:spPr>
          <a:xfrm>
            <a:off x="548640" y="5989320"/>
            <a:ext cx="11064240" cy="502920"/>
          </a:xfrm>
          <a:prstGeom prst="roundRect">
            <a:avLst>
              <a:gd name="adj" fmla="val 21818"/>
            </a:avLst>
          </a:prstGeom>
          <a:solidFill>
            <a:srgbClr val="1B2A49"/>
          </a:solidFill>
          <a:ln w="12700">
            <a:solidFill>
              <a:srgbClr val="1B2A49"/>
            </a:solidFill>
            <a:prstDash val="solid"/>
          </a:ln>
        </p:spPr>
        <p:txBody>
          <a:bodyPr/>
          <a:lstStyle/>
          <a:p>
            <a:endParaRPr lang="en-BB"/>
          </a:p>
        </p:txBody>
      </p:sp>
      <p:sp>
        <p:nvSpPr>
          <p:cNvPr id="45" name="Text 35"/>
          <p:cNvSpPr txBox="1"/>
          <p:nvPr/>
        </p:nvSpPr>
        <p:spPr>
          <a:xfrm>
            <a:off x="822960" y="5989320"/>
            <a:ext cx="1051560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Need: one centralized, consistent relational database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Aim, objectives and scope</a:t>
            </a:r>
            <a:endParaRPr lang="en-US" sz="3400" dirty="0"/>
          </a:p>
        </p:txBody>
      </p:sp>
      <p:sp>
        <p:nvSpPr>
          <p:cNvPr id="3" name="Shape 1"/>
          <p:cNvSpPr/>
          <p:nvPr/>
        </p:nvSpPr>
        <p:spPr>
          <a:xfrm>
            <a:off x="548640" y="1234440"/>
            <a:ext cx="11064240" cy="822960"/>
          </a:xfrm>
          <a:prstGeom prst="roundRect">
            <a:avLst>
              <a:gd name="adj" fmla="val 13333"/>
            </a:avLst>
          </a:prstGeom>
          <a:solidFill>
            <a:srgbClr val="1B2A49"/>
          </a:solidFill>
          <a:ln w="12700">
            <a:solidFill>
              <a:srgbClr val="1B2A49"/>
            </a:solidFill>
            <a:prstDash val="solid"/>
          </a:ln>
        </p:spPr>
        <p:txBody>
          <a:bodyPr/>
          <a:lstStyle/>
          <a:p>
            <a:endParaRPr lang="en-BB"/>
          </a:p>
        </p:txBody>
      </p:sp>
      <p:sp>
        <p:nvSpPr>
          <p:cNvPr id="4" name="Text 2"/>
          <p:cNvSpPr txBox="1"/>
          <p:nvPr/>
        </p:nvSpPr>
        <p:spPr>
          <a:xfrm>
            <a:off x="822960" y="1234440"/>
            <a:ext cx="10515600" cy="822960"/>
          </a:xfrm>
          <a:prstGeom prst="rect">
            <a:avLst/>
          </a:prstGeom>
          <a:noFill/>
          <a:ln/>
        </p:spPr>
        <p:txBody>
          <a:bodyPr wrap="square" lIns="0" tIns="0" rIns="0" bIns="0" rtlCol="0" anchor="ctr"/>
          <a:lstStyle/>
          <a:p>
            <a:pPr marL="0" indent="0">
              <a:buNone/>
            </a:pPr>
            <a:r>
              <a:rPr lang="en-US" sz="1700" b="1" dirty="0">
                <a:solidFill>
                  <a:srgbClr val="F4A261"/>
                </a:solidFill>
                <a:latin typeface="Calibri" pitchFamily="34" charset="0"/>
                <a:ea typeface="Calibri" pitchFamily="34" charset="-122"/>
                <a:cs typeface="Calibri" pitchFamily="34" charset="-120"/>
              </a:rPr>
              <a:t>Aim:  </a:t>
            </a:r>
            <a:r>
              <a:rPr lang="en-US" sz="1700" dirty="0">
                <a:solidFill>
                  <a:srgbClr val="FFFFFF"/>
                </a:solidFill>
                <a:latin typeface="Calibri" pitchFamily="34" charset="0"/>
                <a:ea typeface="Calibri" pitchFamily="34" charset="-122"/>
                <a:cs typeface="Calibri" pitchFamily="34" charset="-120"/>
              </a:rPr>
              <a:t>design and implement a centralized relational database in Microsoft SQL Server that supports the core trading workflow of Colour Selection.</a:t>
            </a:r>
            <a:endParaRPr lang="en-US" sz="1700" dirty="0"/>
          </a:p>
        </p:txBody>
      </p:sp>
      <p:sp>
        <p:nvSpPr>
          <p:cNvPr id="5" name="Shape 3"/>
          <p:cNvSpPr/>
          <p:nvPr/>
        </p:nvSpPr>
        <p:spPr>
          <a:xfrm>
            <a:off x="548640" y="2286000"/>
            <a:ext cx="3520440" cy="1234440"/>
          </a:xfrm>
          <a:prstGeom prst="roundRect">
            <a:avLst>
              <a:gd name="adj" fmla="val 8889"/>
            </a:avLst>
          </a:prstGeom>
          <a:solidFill>
            <a:srgbClr val="EEF2F8"/>
          </a:solidFill>
          <a:ln w="12700">
            <a:solidFill>
              <a:srgbClr val="EEF2F8"/>
            </a:solidFill>
            <a:prstDash val="solid"/>
          </a:ln>
        </p:spPr>
        <p:txBody>
          <a:bodyPr/>
          <a:lstStyle/>
          <a:p>
            <a:endParaRPr lang="en-BB"/>
          </a:p>
        </p:txBody>
      </p:sp>
      <p:sp>
        <p:nvSpPr>
          <p:cNvPr id="6" name="Shape 4"/>
          <p:cNvSpPr/>
          <p:nvPr/>
        </p:nvSpPr>
        <p:spPr>
          <a:xfrm>
            <a:off x="731520" y="2606040"/>
            <a:ext cx="548640" cy="548640"/>
          </a:xfrm>
          <a:prstGeom prst="ellipse">
            <a:avLst/>
          </a:prstGeom>
          <a:solidFill>
            <a:srgbClr val="2A9D8F"/>
          </a:solidFill>
          <a:ln w="12700">
            <a:solidFill>
              <a:srgbClr val="2A9D8F"/>
            </a:solidFill>
            <a:prstDash val="solid"/>
          </a:ln>
        </p:spPr>
        <p:txBody>
          <a:bodyPr/>
          <a:lstStyle/>
          <a:p>
            <a:endParaRPr lang="en-BB"/>
          </a:p>
        </p:txBody>
      </p:sp>
      <p:sp>
        <p:nvSpPr>
          <p:cNvPr id="7" name="Text 5"/>
          <p:cNvSpPr txBox="1"/>
          <p:nvPr/>
        </p:nvSpPr>
        <p:spPr>
          <a:xfrm>
            <a:off x="731520" y="2606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1463040" y="2377440"/>
            <a:ext cx="2468880" cy="1051560"/>
          </a:xfrm>
          <a:prstGeom prst="rect">
            <a:avLst/>
          </a:prstGeom>
          <a:noFill/>
          <a:ln/>
        </p:spPr>
        <p:txBody>
          <a:bodyPr wrap="square" lIns="0" tIns="0" rIns="0" bIns="0" rtlCol="0" anchor="ctr"/>
          <a:lstStyle/>
          <a:p>
            <a:pPr marL="0" indent="0">
              <a:buNone/>
            </a:pPr>
            <a:r>
              <a:rPr lang="en-US" sz="1400" dirty="0">
                <a:solidFill>
                  <a:srgbClr val="1B2A49"/>
                </a:solidFill>
                <a:latin typeface="Calibri" pitchFamily="34" charset="0"/>
                <a:ea typeface="Calibri" pitchFamily="34" charset="-122"/>
                <a:cs typeface="Calibri" pitchFamily="34" charset="-120"/>
              </a:rPr>
              <a:t>Model at least eight entities in an ER diagram with cardinality and participation</a:t>
            </a:r>
            <a:endParaRPr lang="en-US" sz="1400" dirty="0"/>
          </a:p>
        </p:txBody>
      </p:sp>
      <p:sp>
        <p:nvSpPr>
          <p:cNvPr id="9" name="Shape 7"/>
          <p:cNvSpPr/>
          <p:nvPr/>
        </p:nvSpPr>
        <p:spPr>
          <a:xfrm>
            <a:off x="4320540" y="2286000"/>
            <a:ext cx="3520440" cy="1234440"/>
          </a:xfrm>
          <a:prstGeom prst="roundRect">
            <a:avLst>
              <a:gd name="adj" fmla="val 8889"/>
            </a:avLst>
          </a:prstGeom>
          <a:solidFill>
            <a:srgbClr val="EEF2F8"/>
          </a:solidFill>
          <a:ln w="12700">
            <a:solidFill>
              <a:srgbClr val="EEF2F8"/>
            </a:solidFill>
            <a:prstDash val="solid"/>
          </a:ln>
        </p:spPr>
        <p:txBody>
          <a:bodyPr/>
          <a:lstStyle/>
          <a:p>
            <a:endParaRPr lang="en-BB"/>
          </a:p>
        </p:txBody>
      </p:sp>
      <p:sp>
        <p:nvSpPr>
          <p:cNvPr id="10" name="Shape 8"/>
          <p:cNvSpPr/>
          <p:nvPr/>
        </p:nvSpPr>
        <p:spPr>
          <a:xfrm>
            <a:off x="4503420" y="2606040"/>
            <a:ext cx="548640" cy="548640"/>
          </a:xfrm>
          <a:prstGeom prst="ellipse">
            <a:avLst/>
          </a:prstGeom>
          <a:solidFill>
            <a:srgbClr val="2A9D8F"/>
          </a:solidFill>
          <a:ln w="12700">
            <a:solidFill>
              <a:srgbClr val="2A9D8F"/>
            </a:solidFill>
            <a:prstDash val="solid"/>
          </a:ln>
        </p:spPr>
        <p:txBody>
          <a:bodyPr/>
          <a:lstStyle/>
          <a:p>
            <a:endParaRPr lang="en-BB"/>
          </a:p>
        </p:txBody>
      </p:sp>
      <p:sp>
        <p:nvSpPr>
          <p:cNvPr id="11" name="Text 9"/>
          <p:cNvSpPr txBox="1"/>
          <p:nvPr/>
        </p:nvSpPr>
        <p:spPr>
          <a:xfrm>
            <a:off x="4503420" y="2606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5234940" y="2377440"/>
            <a:ext cx="2468880" cy="1051560"/>
          </a:xfrm>
          <a:prstGeom prst="rect">
            <a:avLst/>
          </a:prstGeom>
          <a:noFill/>
          <a:ln/>
        </p:spPr>
        <p:txBody>
          <a:bodyPr wrap="square" lIns="0" tIns="0" rIns="0" bIns="0" rtlCol="0" anchor="ctr"/>
          <a:lstStyle/>
          <a:p>
            <a:pPr marL="0" indent="0">
              <a:buNone/>
            </a:pPr>
            <a:r>
              <a:rPr lang="en-US" sz="1400" dirty="0">
                <a:solidFill>
                  <a:srgbClr val="1B2A49"/>
                </a:solidFill>
                <a:latin typeface="Calibri" pitchFamily="34" charset="0"/>
                <a:ea typeface="Calibri" pitchFamily="34" charset="-122"/>
                <a:cs typeface="Calibri" pitchFamily="34" charset="-120"/>
              </a:rPr>
              <a:t>Map the ER model to a relational schema in 3NF</a:t>
            </a:r>
            <a:endParaRPr lang="en-US" sz="1400" dirty="0"/>
          </a:p>
        </p:txBody>
      </p:sp>
      <p:sp>
        <p:nvSpPr>
          <p:cNvPr id="13" name="Shape 11"/>
          <p:cNvSpPr/>
          <p:nvPr/>
        </p:nvSpPr>
        <p:spPr>
          <a:xfrm>
            <a:off x="8092440" y="2286000"/>
            <a:ext cx="3520440" cy="1234440"/>
          </a:xfrm>
          <a:prstGeom prst="roundRect">
            <a:avLst>
              <a:gd name="adj" fmla="val 8889"/>
            </a:avLst>
          </a:prstGeom>
          <a:solidFill>
            <a:srgbClr val="EEF2F8"/>
          </a:solidFill>
          <a:ln w="12700">
            <a:solidFill>
              <a:srgbClr val="EEF2F8"/>
            </a:solidFill>
            <a:prstDash val="solid"/>
          </a:ln>
        </p:spPr>
        <p:txBody>
          <a:bodyPr/>
          <a:lstStyle/>
          <a:p>
            <a:endParaRPr lang="en-BB"/>
          </a:p>
        </p:txBody>
      </p:sp>
      <p:sp>
        <p:nvSpPr>
          <p:cNvPr id="14" name="Shape 12"/>
          <p:cNvSpPr/>
          <p:nvPr/>
        </p:nvSpPr>
        <p:spPr>
          <a:xfrm>
            <a:off x="8275320" y="2606040"/>
            <a:ext cx="548640" cy="548640"/>
          </a:xfrm>
          <a:prstGeom prst="ellipse">
            <a:avLst/>
          </a:prstGeom>
          <a:solidFill>
            <a:srgbClr val="2A9D8F"/>
          </a:solidFill>
          <a:ln w="12700">
            <a:solidFill>
              <a:srgbClr val="2A9D8F"/>
            </a:solidFill>
            <a:prstDash val="solid"/>
          </a:ln>
        </p:spPr>
        <p:txBody>
          <a:bodyPr/>
          <a:lstStyle/>
          <a:p>
            <a:endParaRPr lang="en-BB"/>
          </a:p>
        </p:txBody>
      </p:sp>
      <p:sp>
        <p:nvSpPr>
          <p:cNvPr id="15" name="Text 13"/>
          <p:cNvSpPr txBox="1"/>
          <p:nvPr/>
        </p:nvSpPr>
        <p:spPr>
          <a:xfrm>
            <a:off x="8275320" y="2606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9006840" y="2377440"/>
            <a:ext cx="2468880" cy="1051560"/>
          </a:xfrm>
          <a:prstGeom prst="rect">
            <a:avLst/>
          </a:prstGeom>
          <a:noFill/>
          <a:ln/>
        </p:spPr>
        <p:txBody>
          <a:bodyPr wrap="square" lIns="0" tIns="0" rIns="0" bIns="0" rtlCol="0" anchor="ctr"/>
          <a:lstStyle/>
          <a:p>
            <a:pPr marL="0" indent="0">
              <a:buNone/>
            </a:pPr>
            <a:r>
              <a:rPr lang="en-US" sz="1400" dirty="0">
                <a:solidFill>
                  <a:srgbClr val="1B2A49"/>
                </a:solidFill>
                <a:latin typeface="Calibri" pitchFamily="34" charset="0"/>
                <a:ea typeface="Calibri" pitchFamily="34" charset="-122"/>
                <a:cs typeface="Calibri" pitchFamily="34" charset="-120"/>
              </a:rPr>
              <a:t>Build the database and tables in SQL Server with constraints</a:t>
            </a:r>
            <a:endParaRPr lang="en-US" sz="1400" dirty="0"/>
          </a:p>
        </p:txBody>
      </p:sp>
      <p:sp>
        <p:nvSpPr>
          <p:cNvPr id="17" name="Shape 15"/>
          <p:cNvSpPr/>
          <p:nvPr/>
        </p:nvSpPr>
        <p:spPr>
          <a:xfrm>
            <a:off x="548640" y="3657600"/>
            <a:ext cx="3520440" cy="1234440"/>
          </a:xfrm>
          <a:prstGeom prst="roundRect">
            <a:avLst>
              <a:gd name="adj" fmla="val 8889"/>
            </a:avLst>
          </a:prstGeom>
          <a:solidFill>
            <a:srgbClr val="EEF2F8"/>
          </a:solidFill>
          <a:ln w="12700">
            <a:solidFill>
              <a:srgbClr val="EEF2F8"/>
            </a:solidFill>
            <a:prstDash val="solid"/>
          </a:ln>
        </p:spPr>
        <p:txBody>
          <a:bodyPr/>
          <a:lstStyle/>
          <a:p>
            <a:endParaRPr lang="en-BB"/>
          </a:p>
        </p:txBody>
      </p:sp>
      <p:sp>
        <p:nvSpPr>
          <p:cNvPr id="18" name="Shape 16"/>
          <p:cNvSpPr/>
          <p:nvPr/>
        </p:nvSpPr>
        <p:spPr>
          <a:xfrm>
            <a:off x="731520" y="3977640"/>
            <a:ext cx="548640" cy="548640"/>
          </a:xfrm>
          <a:prstGeom prst="ellipse">
            <a:avLst/>
          </a:prstGeom>
          <a:solidFill>
            <a:srgbClr val="2A9D8F"/>
          </a:solidFill>
          <a:ln w="12700">
            <a:solidFill>
              <a:srgbClr val="2A9D8F"/>
            </a:solidFill>
            <a:prstDash val="solid"/>
          </a:ln>
        </p:spPr>
        <p:txBody>
          <a:bodyPr/>
          <a:lstStyle/>
          <a:p>
            <a:endParaRPr lang="en-BB"/>
          </a:p>
        </p:txBody>
      </p:sp>
      <p:sp>
        <p:nvSpPr>
          <p:cNvPr id="19" name="Text 17"/>
          <p:cNvSpPr txBox="1"/>
          <p:nvPr/>
        </p:nvSpPr>
        <p:spPr>
          <a:xfrm>
            <a:off x="731520" y="3977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0" name="Text 18"/>
          <p:cNvSpPr txBox="1"/>
          <p:nvPr/>
        </p:nvSpPr>
        <p:spPr>
          <a:xfrm>
            <a:off x="1463040" y="3749040"/>
            <a:ext cx="2468880" cy="1051560"/>
          </a:xfrm>
          <a:prstGeom prst="rect">
            <a:avLst/>
          </a:prstGeom>
          <a:noFill/>
          <a:ln/>
        </p:spPr>
        <p:txBody>
          <a:bodyPr wrap="square" lIns="0" tIns="0" rIns="0" bIns="0" rtlCol="0" anchor="ctr"/>
          <a:lstStyle/>
          <a:p>
            <a:pPr marL="0" indent="0">
              <a:buNone/>
            </a:pPr>
            <a:r>
              <a:rPr lang="en-US" sz="1400" dirty="0">
                <a:solidFill>
                  <a:srgbClr val="1B2A49"/>
                </a:solidFill>
                <a:latin typeface="Calibri" pitchFamily="34" charset="0"/>
                <a:ea typeface="Calibri" pitchFamily="34" charset="-122"/>
                <a:cs typeface="Calibri" pitchFamily="34" charset="-120"/>
              </a:rPr>
              <a:t>Populate every table with at least ten records</a:t>
            </a:r>
            <a:endParaRPr lang="en-US" sz="1400" dirty="0"/>
          </a:p>
        </p:txBody>
      </p:sp>
      <p:sp>
        <p:nvSpPr>
          <p:cNvPr id="21" name="Shape 19"/>
          <p:cNvSpPr/>
          <p:nvPr/>
        </p:nvSpPr>
        <p:spPr>
          <a:xfrm>
            <a:off x="4320540" y="3657600"/>
            <a:ext cx="3520440" cy="1234440"/>
          </a:xfrm>
          <a:prstGeom prst="roundRect">
            <a:avLst>
              <a:gd name="adj" fmla="val 8889"/>
            </a:avLst>
          </a:prstGeom>
          <a:solidFill>
            <a:srgbClr val="EEF2F8"/>
          </a:solidFill>
          <a:ln w="12700">
            <a:solidFill>
              <a:srgbClr val="EEF2F8"/>
            </a:solidFill>
            <a:prstDash val="solid"/>
          </a:ln>
        </p:spPr>
        <p:txBody>
          <a:bodyPr/>
          <a:lstStyle/>
          <a:p>
            <a:endParaRPr lang="en-BB"/>
          </a:p>
        </p:txBody>
      </p:sp>
      <p:sp>
        <p:nvSpPr>
          <p:cNvPr id="22" name="Shape 20"/>
          <p:cNvSpPr/>
          <p:nvPr/>
        </p:nvSpPr>
        <p:spPr>
          <a:xfrm>
            <a:off x="4503420" y="3977640"/>
            <a:ext cx="548640" cy="548640"/>
          </a:xfrm>
          <a:prstGeom prst="ellipse">
            <a:avLst/>
          </a:prstGeom>
          <a:solidFill>
            <a:srgbClr val="2A9D8F"/>
          </a:solidFill>
          <a:ln w="12700">
            <a:solidFill>
              <a:srgbClr val="2A9D8F"/>
            </a:solidFill>
            <a:prstDash val="solid"/>
          </a:ln>
        </p:spPr>
        <p:txBody>
          <a:bodyPr/>
          <a:lstStyle/>
          <a:p>
            <a:endParaRPr lang="en-BB"/>
          </a:p>
        </p:txBody>
      </p:sp>
      <p:sp>
        <p:nvSpPr>
          <p:cNvPr id="23" name="Text 21"/>
          <p:cNvSpPr txBox="1"/>
          <p:nvPr/>
        </p:nvSpPr>
        <p:spPr>
          <a:xfrm>
            <a:off x="4503420" y="3977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4" name="Text 22"/>
          <p:cNvSpPr txBox="1"/>
          <p:nvPr/>
        </p:nvSpPr>
        <p:spPr>
          <a:xfrm>
            <a:off x="5234940" y="3749040"/>
            <a:ext cx="2468880" cy="1051560"/>
          </a:xfrm>
          <a:prstGeom prst="rect">
            <a:avLst/>
          </a:prstGeom>
          <a:noFill/>
          <a:ln/>
        </p:spPr>
        <p:txBody>
          <a:bodyPr wrap="square" lIns="0" tIns="0" rIns="0" bIns="0" rtlCol="0" anchor="ctr"/>
          <a:lstStyle/>
          <a:p>
            <a:pPr marL="0" indent="0">
              <a:buNone/>
            </a:pPr>
            <a:r>
              <a:rPr lang="en-US" sz="1400" dirty="0">
                <a:solidFill>
                  <a:srgbClr val="1B2A49"/>
                </a:solidFill>
                <a:latin typeface="Calibri" pitchFamily="34" charset="0"/>
                <a:ea typeface="Calibri" pitchFamily="34" charset="-122"/>
                <a:cs typeface="Calibri" pitchFamily="34" charset="-120"/>
              </a:rPr>
              <a:t>Answer business questions with basic, advanced and join queries</a:t>
            </a:r>
            <a:endParaRPr lang="en-US" sz="1400" dirty="0"/>
          </a:p>
        </p:txBody>
      </p:sp>
      <p:sp>
        <p:nvSpPr>
          <p:cNvPr id="25" name="Shape 23"/>
          <p:cNvSpPr/>
          <p:nvPr/>
        </p:nvSpPr>
        <p:spPr>
          <a:xfrm>
            <a:off x="8092440" y="3657600"/>
            <a:ext cx="3520440" cy="1234440"/>
          </a:xfrm>
          <a:prstGeom prst="roundRect">
            <a:avLst>
              <a:gd name="adj" fmla="val 8889"/>
            </a:avLst>
          </a:prstGeom>
          <a:solidFill>
            <a:srgbClr val="EEF2F8"/>
          </a:solidFill>
          <a:ln w="12700">
            <a:solidFill>
              <a:srgbClr val="EEF2F8"/>
            </a:solidFill>
            <a:prstDash val="solid"/>
          </a:ln>
        </p:spPr>
        <p:txBody>
          <a:bodyPr/>
          <a:lstStyle/>
          <a:p>
            <a:endParaRPr lang="en-BB"/>
          </a:p>
        </p:txBody>
      </p:sp>
      <p:sp>
        <p:nvSpPr>
          <p:cNvPr id="26" name="Shape 24"/>
          <p:cNvSpPr/>
          <p:nvPr/>
        </p:nvSpPr>
        <p:spPr>
          <a:xfrm>
            <a:off x="8275320" y="3977640"/>
            <a:ext cx="548640" cy="548640"/>
          </a:xfrm>
          <a:prstGeom prst="ellipse">
            <a:avLst/>
          </a:prstGeom>
          <a:solidFill>
            <a:srgbClr val="2A9D8F"/>
          </a:solidFill>
          <a:ln w="12700">
            <a:solidFill>
              <a:srgbClr val="2A9D8F"/>
            </a:solidFill>
            <a:prstDash val="solid"/>
          </a:ln>
        </p:spPr>
        <p:txBody>
          <a:bodyPr/>
          <a:lstStyle/>
          <a:p>
            <a:endParaRPr lang="en-BB"/>
          </a:p>
        </p:txBody>
      </p:sp>
      <p:sp>
        <p:nvSpPr>
          <p:cNvPr id="27" name="Text 25"/>
          <p:cNvSpPr txBox="1"/>
          <p:nvPr/>
        </p:nvSpPr>
        <p:spPr>
          <a:xfrm>
            <a:off x="8275320" y="3977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8" name="Text 26"/>
          <p:cNvSpPr txBox="1"/>
          <p:nvPr/>
        </p:nvSpPr>
        <p:spPr>
          <a:xfrm>
            <a:off x="9006840" y="3749040"/>
            <a:ext cx="2468880" cy="1051560"/>
          </a:xfrm>
          <a:prstGeom prst="rect">
            <a:avLst/>
          </a:prstGeom>
          <a:noFill/>
          <a:ln/>
        </p:spPr>
        <p:txBody>
          <a:bodyPr wrap="square" lIns="0" tIns="0" rIns="0" bIns="0" rtlCol="0" anchor="ctr"/>
          <a:lstStyle/>
          <a:p>
            <a:pPr marL="0" indent="0">
              <a:buNone/>
            </a:pPr>
            <a:r>
              <a:rPr lang="en-US" sz="1400" dirty="0">
                <a:solidFill>
                  <a:srgbClr val="1B2A49"/>
                </a:solidFill>
                <a:latin typeface="Calibri" pitchFamily="34" charset="0"/>
                <a:ea typeface="Calibri" pitchFamily="34" charset="-122"/>
                <a:cs typeface="Calibri" pitchFamily="34" charset="-120"/>
              </a:rPr>
              <a:t>Secure the data with role-based database users</a:t>
            </a:r>
            <a:endParaRPr lang="en-US" sz="1400" dirty="0"/>
          </a:p>
        </p:txBody>
      </p:sp>
      <p:sp>
        <p:nvSpPr>
          <p:cNvPr id="29" name="Shape 27"/>
          <p:cNvSpPr/>
          <p:nvPr/>
        </p:nvSpPr>
        <p:spPr>
          <a:xfrm>
            <a:off x="548640" y="5120640"/>
            <a:ext cx="3520440" cy="1371600"/>
          </a:xfrm>
          <a:prstGeom prst="roundRect">
            <a:avLst>
              <a:gd name="adj" fmla="val 8000"/>
            </a:avLst>
          </a:prstGeom>
          <a:solidFill>
            <a:srgbClr val="EEF2F8"/>
          </a:solidFill>
          <a:ln w="12700">
            <a:solidFill>
              <a:srgbClr val="EEF2F8"/>
            </a:solidFill>
            <a:prstDash val="solid"/>
          </a:ln>
        </p:spPr>
        <p:txBody>
          <a:bodyPr/>
          <a:lstStyle/>
          <a:p>
            <a:endParaRPr lang="en-BB"/>
          </a:p>
        </p:txBody>
      </p:sp>
      <p:sp>
        <p:nvSpPr>
          <p:cNvPr id="30" name="Shape 28"/>
          <p:cNvSpPr/>
          <p:nvPr/>
        </p:nvSpPr>
        <p:spPr>
          <a:xfrm>
            <a:off x="731520" y="5285232"/>
            <a:ext cx="457200" cy="457200"/>
          </a:xfrm>
          <a:prstGeom prst="ellipse">
            <a:avLst/>
          </a:prstGeom>
          <a:solidFill>
            <a:srgbClr val="2A9D8F"/>
          </a:solidFill>
          <a:ln w="12700">
            <a:solidFill>
              <a:srgbClr val="2A9D8F"/>
            </a:solidFill>
            <a:prstDash val="solid"/>
          </a:ln>
        </p:spPr>
        <p:txBody>
          <a:bodyPr/>
          <a:lstStyle/>
          <a:p>
            <a:endParaRPr lang="en-BB"/>
          </a:p>
        </p:txBody>
      </p:sp>
      <p:pic>
        <p:nvPicPr>
          <p:cNvPr id="31" name="Image 0" descr="preencoded.png"/>
          <p:cNvPicPr>
            <a:picLocks noChangeAspect="1"/>
          </p:cNvPicPr>
          <p:nvPr/>
        </p:nvPicPr>
        <p:blipFill>
          <a:blip r:embed="rId3"/>
          <a:stretch>
            <a:fillRect/>
          </a:stretch>
        </p:blipFill>
        <p:spPr>
          <a:xfrm>
            <a:off x="845820" y="5399532"/>
            <a:ext cx="228600" cy="228600"/>
          </a:xfrm>
          <a:prstGeom prst="rect">
            <a:avLst/>
          </a:prstGeom>
        </p:spPr>
      </p:pic>
      <p:sp>
        <p:nvSpPr>
          <p:cNvPr id="32" name="Text 29"/>
          <p:cNvSpPr txBox="1"/>
          <p:nvPr/>
        </p:nvSpPr>
        <p:spPr>
          <a:xfrm>
            <a:off x="1325880" y="5285232"/>
            <a:ext cx="2560320" cy="457200"/>
          </a:xfrm>
          <a:prstGeom prst="rect">
            <a:avLst/>
          </a:prstGeom>
          <a:noFill/>
          <a:ln/>
        </p:spPr>
        <p:txBody>
          <a:bodyPr wrap="square" lIns="0" tIns="0" rIns="0" bIns="0" rtlCol="0" anchor="ctr"/>
          <a:lstStyle/>
          <a:p>
            <a:pPr marL="0" indent="0">
              <a:buNone/>
            </a:pPr>
            <a:r>
              <a:rPr lang="en-US" sz="1600" b="1" dirty="0">
                <a:solidFill>
                  <a:srgbClr val="1B2A49"/>
                </a:solidFill>
                <a:latin typeface="Cambria" pitchFamily="34" charset="0"/>
                <a:ea typeface="Cambria" pitchFamily="34" charset="-122"/>
                <a:cs typeface="Cambria" pitchFamily="34" charset="-120"/>
              </a:rPr>
              <a:t>In scope</a:t>
            </a:r>
            <a:endParaRPr lang="en-US" sz="1600" dirty="0"/>
          </a:p>
        </p:txBody>
      </p:sp>
      <p:sp>
        <p:nvSpPr>
          <p:cNvPr id="33" name="Text 30"/>
          <p:cNvSpPr txBox="1"/>
          <p:nvPr/>
        </p:nvSpPr>
        <p:spPr>
          <a:xfrm>
            <a:off x="731520" y="5833872"/>
            <a:ext cx="3154680" cy="594360"/>
          </a:xfrm>
          <a:prstGeom prst="rect">
            <a:avLst/>
          </a:prstGeom>
          <a:noFill/>
          <a:ln/>
        </p:spPr>
        <p:txBody>
          <a:bodyPr wrap="square" lIns="0" tIns="0" rIns="0" bIns="0" rtlCol="0" anchor="t"/>
          <a:lstStyle/>
          <a:p>
            <a:pPr marL="0" indent="0">
              <a:buNone/>
            </a:pPr>
            <a:r>
              <a:rPr lang="en-US" sz="1250" dirty="0">
                <a:solidFill>
                  <a:srgbClr val="1B2A49"/>
                </a:solidFill>
                <a:latin typeface="Calibri" pitchFamily="34" charset="0"/>
                <a:ea typeface="Calibri" pitchFamily="34" charset="-122"/>
                <a:cs typeface="Calibri" pitchFamily="34" charset="-120"/>
              </a:rPr>
              <a:t>9 entities across the supply chain and the sales and billing cycle</a:t>
            </a:r>
            <a:endParaRPr lang="en-US" sz="1250" dirty="0"/>
          </a:p>
        </p:txBody>
      </p:sp>
      <p:sp>
        <p:nvSpPr>
          <p:cNvPr id="34" name="Shape 31"/>
          <p:cNvSpPr/>
          <p:nvPr/>
        </p:nvSpPr>
        <p:spPr>
          <a:xfrm>
            <a:off x="4320540" y="5120640"/>
            <a:ext cx="3520440" cy="1371600"/>
          </a:xfrm>
          <a:prstGeom prst="roundRect">
            <a:avLst>
              <a:gd name="adj" fmla="val 8000"/>
            </a:avLst>
          </a:prstGeom>
          <a:solidFill>
            <a:srgbClr val="EEF2F8"/>
          </a:solidFill>
          <a:ln w="12700">
            <a:solidFill>
              <a:srgbClr val="EEF2F8"/>
            </a:solidFill>
            <a:prstDash val="solid"/>
          </a:ln>
        </p:spPr>
        <p:txBody>
          <a:bodyPr/>
          <a:lstStyle/>
          <a:p>
            <a:endParaRPr lang="en-BB"/>
          </a:p>
        </p:txBody>
      </p:sp>
      <p:sp>
        <p:nvSpPr>
          <p:cNvPr id="35" name="Shape 32"/>
          <p:cNvSpPr/>
          <p:nvPr/>
        </p:nvSpPr>
        <p:spPr>
          <a:xfrm>
            <a:off x="4503420" y="5285232"/>
            <a:ext cx="457200" cy="457200"/>
          </a:xfrm>
          <a:prstGeom prst="ellipse">
            <a:avLst/>
          </a:prstGeom>
          <a:solidFill>
            <a:srgbClr val="E76F51"/>
          </a:solidFill>
          <a:ln w="12700">
            <a:solidFill>
              <a:srgbClr val="E76F51"/>
            </a:solidFill>
            <a:prstDash val="solid"/>
          </a:ln>
        </p:spPr>
        <p:txBody>
          <a:bodyPr/>
          <a:lstStyle/>
          <a:p>
            <a:endParaRPr lang="en-BB"/>
          </a:p>
        </p:txBody>
      </p:sp>
      <p:pic>
        <p:nvPicPr>
          <p:cNvPr id="36" name="Image 1" descr="preencoded.png"/>
          <p:cNvPicPr>
            <a:picLocks noChangeAspect="1"/>
          </p:cNvPicPr>
          <p:nvPr/>
        </p:nvPicPr>
        <p:blipFill>
          <a:blip r:embed="rId4"/>
          <a:stretch>
            <a:fillRect/>
          </a:stretch>
        </p:blipFill>
        <p:spPr>
          <a:xfrm>
            <a:off x="4617720" y="5399532"/>
            <a:ext cx="228600" cy="228600"/>
          </a:xfrm>
          <a:prstGeom prst="rect">
            <a:avLst/>
          </a:prstGeom>
        </p:spPr>
      </p:pic>
      <p:sp>
        <p:nvSpPr>
          <p:cNvPr id="37" name="Text 33"/>
          <p:cNvSpPr txBox="1"/>
          <p:nvPr/>
        </p:nvSpPr>
        <p:spPr>
          <a:xfrm>
            <a:off x="5097780" y="5285232"/>
            <a:ext cx="2560320" cy="457200"/>
          </a:xfrm>
          <a:prstGeom prst="rect">
            <a:avLst/>
          </a:prstGeom>
          <a:noFill/>
          <a:ln/>
        </p:spPr>
        <p:txBody>
          <a:bodyPr wrap="square" lIns="0" tIns="0" rIns="0" bIns="0" rtlCol="0" anchor="ctr"/>
          <a:lstStyle/>
          <a:p>
            <a:pPr marL="0" indent="0">
              <a:buNone/>
            </a:pPr>
            <a:r>
              <a:rPr lang="en-US" sz="1600" b="1" dirty="0">
                <a:solidFill>
                  <a:srgbClr val="1B2A49"/>
                </a:solidFill>
                <a:latin typeface="Cambria" pitchFamily="34" charset="0"/>
                <a:ea typeface="Cambria" pitchFamily="34" charset="-122"/>
                <a:cs typeface="Cambria" pitchFamily="34" charset="-120"/>
              </a:rPr>
              <a:t>Out of scope</a:t>
            </a:r>
            <a:endParaRPr lang="en-US" sz="1600" dirty="0"/>
          </a:p>
        </p:txBody>
      </p:sp>
      <p:sp>
        <p:nvSpPr>
          <p:cNvPr id="38" name="Text 34"/>
          <p:cNvSpPr txBox="1"/>
          <p:nvPr/>
        </p:nvSpPr>
        <p:spPr>
          <a:xfrm>
            <a:off x="4503420" y="5833872"/>
            <a:ext cx="3154680" cy="594360"/>
          </a:xfrm>
          <a:prstGeom prst="rect">
            <a:avLst/>
          </a:prstGeom>
          <a:noFill/>
          <a:ln/>
        </p:spPr>
        <p:txBody>
          <a:bodyPr wrap="square" lIns="0" tIns="0" rIns="0" bIns="0" rtlCol="0" anchor="t"/>
          <a:lstStyle/>
          <a:p>
            <a:pPr marL="0" indent="0">
              <a:buNone/>
            </a:pPr>
            <a:r>
              <a:rPr lang="en-US" sz="1250" dirty="0">
                <a:solidFill>
                  <a:srgbClr val="1B2A49"/>
                </a:solidFill>
                <a:latin typeface="Calibri" pitchFamily="34" charset="0"/>
                <a:ea typeface="Calibri" pitchFamily="34" charset="-122"/>
                <a:cs typeface="Calibri" pitchFamily="34" charset="-120"/>
              </a:rPr>
              <a:t>HR and employees, sales representatives and a front-end application</a:t>
            </a:r>
            <a:endParaRPr lang="en-US" sz="1250" dirty="0"/>
          </a:p>
        </p:txBody>
      </p:sp>
      <p:sp>
        <p:nvSpPr>
          <p:cNvPr id="39" name="Shape 35"/>
          <p:cNvSpPr/>
          <p:nvPr/>
        </p:nvSpPr>
        <p:spPr>
          <a:xfrm>
            <a:off x="8092440" y="5120640"/>
            <a:ext cx="3520440" cy="1371600"/>
          </a:xfrm>
          <a:prstGeom prst="roundRect">
            <a:avLst>
              <a:gd name="adj" fmla="val 8000"/>
            </a:avLst>
          </a:prstGeom>
          <a:solidFill>
            <a:srgbClr val="EEF2F8"/>
          </a:solidFill>
          <a:ln w="12700">
            <a:solidFill>
              <a:srgbClr val="EEF2F8"/>
            </a:solidFill>
            <a:prstDash val="solid"/>
          </a:ln>
        </p:spPr>
        <p:txBody>
          <a:bodyPr/>
          <a:lstStyle/>
          <a:p>
            <a:endParaRPr lang="en-BB"/>
          </a:p>
        </p:txBody>
      </p:sp>
      <p:sp>
        <p:nvSpPr>
          <p:cNvPr id="40" name="Shape 36"/>
          <p:cNvSpPr/>
          <p:nvPr/>
        </p:nvSpPr>
        <p:spPr>
          <a:xfrm>
            <a:off x="8275320" y="5285232"/>
            <a:ext cx="457200" cy="457200"/>
          </a:xfrm>
          <a:prstGeom prst="ellipse">
            <a:avLst/>
          </a:prstGeom>
          <a:solidFill>
            <a:srgbClr val="F4A261"/>
          </a:solidFill>
          <a:ln w="12700">
            <a:solidFill>
              <a:srgbClr val="F4A261"/>
            </a:solidFill>
            <a:prstDash val="solid"/>
          </a:ln>
        </p:spPr>
        <p:txBody>
          <a:bodyPr/>
          <a:lstStyle/>
          <a:p>
            <a:endParaRPr lang="en-BB"/>
          </a:p>
        </p:txBody>
      </p:sp>
      <p:pic>
        <p:nvPicPr>
          <p:cNvPr id="41" name="Image 2" descr="preencoded.png"/>
          <p:cNvPicPr>
            <a:picLocks noChangeAspect="1"/>
          </p:cNvPicPr>
          <p:nvPr/>
        </p:nvPicPr>
        <p:blipFill>
          <a:blip r:embed="rId5"/>
          <a:stretch>
            <a:fillRect/>
          </a:stretch>
        </p:blipFill>
        <p:spPr>
          <a:xfrm>
            <a:off x="8389620" y="5399532"/>
            <a:ext cx="228600" cy="228600"/>
          </a:xfrm>
          <a:prstGeom prst="rect">
            <a:avLst/>
          </a:prstGeom>
        </p:spPr>
      </p:pic>
      <p:sp>
        <p:nvSpPr>
          <p:cNvPr id="42" name="Text 37"/>
          <p:cNvSpPr txBox="1"/>
          <p:nvPr/>
        </p:nvSpPr>
        <p:spPr>
          <a:xfrm>
            <a:off x="8869680" y="5285232"/>
            <a:ext cx="2560320" cy="457200"/>
          </a:xfrm>
          <a:prstGeom prst="rect">
            <a:avLst/>
          </a:prstGeom>
          <a:noFill/>
          <a:ln/>
        </p:spPr>
        <p:txBody>
          <a:bodyPr wrap="square" lIns="0" tIns="0" rIns="0" bIns="0" rtlCol="0" anchor="ctr"/>
          <a:lstStyle/>
          <a:p>
            <a:pPr marL="0" indent="0">
              <a:buNone/>
            </a:pPr>
            <a:r>
              <a:rPr lang="en-US" sz="1600" b="1" dirty="0">
                <a:solidFill>
                  <a:srgbClr val="1B2A49"/>
                </a:solidFill>
                <a:latin typeface="Cambria" pitchFamily="34" charset="0"/>
                <a:ea typeface="Cambria" pitchFamily="34" charset="-122"/>
                <a:cs typeface="Cambria" pitchFamily="34" charset="-120"/>
              </a:rPr>
              <a:t>Tools</a:t>
            </a:r>
            <a:endParaRPr lang="en-US" sz="1600" dirty="0"/>
          </a:p>
        </p:txBody>
      </p:sp>
      <p:sp>
        <p:nvSpPr>
          <p:cNvPr id="43" name="Text 38"/>
          <p:cNvSpPr txBox="1"/>
          <p:nvPr/>
        </p:nvSpPr>
        <p:spPr>
          <a:xfrm>
            <a:off x="8275320" y="5833872"/>
            <a:ext cx="3154680" cy="594360"/>
          </a:xfrm>
          <a:prstGeom prst="rect">
            <a:avLst/>
          </a:prstGeom>
          <a:noFill/>
          <a:ln/>
        </p:spPr>
        <p:txBody>
          <a:bodyPr wrap="square" lIns="0" tIns="0" rIns="0" bIns="0" rtlCol="0" anchor="t"/>
          <a:lstStyle/>
          <a:p>
            <a:pPr marL="0" indent="0">
              <a:buNone/>
            </a:pPr>
            <a:r>
              <a:rPr lang="en-US" sz="1250" dirty="0">
                <a:solidFill>
                  <a:srgbClr val="1B2A49"/>
                </a:solidFill>
                <a:latin typeface="Calibri" pitchFamily="34" charset="0"/>
                <a:ea typeface="Calibri" pitchFamily="34" charset="-122"/>
                <a:cs typeface="Calibri" pitchFamily="34" charset="-120"/>
              </a:rPr>
              <a:t>SQL Server, SSMS and T-SQL; ER diagram on Bristol board; Word and PowerPoint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640080"/>
          </a:xfrm>
          <a:prstGeom prst="rect">
            <a:avLst/>
          </a:prstGeom>
          <a:noFill/>
          <a:ln/>
        </p:spPr>
        <p:txBody>
          <a:bodyPr wrap="square" lIns="0" tIns="0" rIns="0" bIns="0" rtlCol="0" anchor="ctr"/>
          <a:lstStyle/>
          <a:p>
            <a:pPr marL="0" indent="0">
              <a:buNone/>
            </a:pPr>
            <a:r>
              <a:rPr lang="en-US" sz="3000" b="1">
                <a:solidFill>
                  <a:srgbClr val="1B2A49"/>
                </a:solidFill>
                <a:latin typeface="Cambria" pitchFamily="34" charset="0"/>
                <a:ea typeface="Cambria" pitchFamily="34" charset="-122"/>
                <a:cs typeface="Cambria" pitchFamily="34" charset="-120"/>
              </a:rPr>
              <a:t>Conceptual design: ER diagram</a:t>
            </a:r>
            <a:endParaRPr lang="en-US" sz="3000" dirty="0"/>
          </a:p>
        </p:txBody>
      </p:sp>
      <p:pic>
        <p:nvPicPr>
          <p:cNvPr id="4" name="Picture 3">
            <a:extLst>
              <a:ext uri="{FF2B5EF4-FFF2-40B4-BE49-F238E27FC236}">
                <a16:creationId xmlns:a16="http://schemas.microsoft.com/office/drawing/2014/main" id="{D92B73B8-2308-FBE5-7E9D-286E0964AE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6235" y="1149318"/>
            <a:ext cx="9319530" cy="51295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Relationships, cardinality and participation</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680960" cy="4754880"/>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4754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Relationship</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B2A49"/>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Entity A</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B2A49"/>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Entity B</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B2A49"/>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Cardinality</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B2A49"/>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Participation (A : B)</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B2A49"/>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Supplies</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SUPPLIER</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PRODUCT</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1 : N</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Partial : Total</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Stored_In</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WAREHOUSE</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INVENTORY</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1 : N</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Partial : Total</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extLst>
                  <a:ext uri="{0D108BD9-81ED-4DB2-BD59-A6C34878D82A}">
                    <a16:rowId xmlns:a16="http://schemas.microsoft.com/office/drawing/2014/main" val="10002"/>
                  </a:ext>
                </a:extLst>
              </a:tr>
              <a:tr h="475488">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Stocks</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PRODUCT</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INVENTORY</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1 : N</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Partial : Total</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Places</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CUSTOMER</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SALES_ORDER</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1 : N</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Partial : Total</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extLst>
                  <a:ext uri="{0D108BD9-81ED-4DB2-BD59-A6C34878D82A}">
                    <a16:rowId xmlns:a16="http://schemas.microsoft.com/office/drawing/2014/main" val="10004"/>
                  </a:ext>
                </a:extLst>
              </a:tr>
              <a:tr h="475488">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Contains</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SALES_ORDER</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ORDER_DETAIL</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1 : N</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Total : Total</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Included_In</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PRODUCT</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ORDER_DETAIL</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1 : N</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Partial : Total</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extLst>
                  <a:ext uri="{0D108BD9-81ED-4DB2-BD59-A6C34878D82A}">
                    <a16:rowId xmlns:a16="http://schemas.microsoft.com/office/drawing/2014/main" val="10006"/>
                  </a:ext>
                </a:extLst>
              </a:tr>
              <a:tr h="475488">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Receives</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CUSTOMER</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INVOICE</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1 : N</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Partial : Total</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Is_Paid_By</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SALES_ORDER</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PAYMENT</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1 : N</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Partial : Total</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2F8"/>
                    </a:solidFill>
                  </a:tcPr>
                </a:tc>
                <a:extLst>
                  <a:ext uri="{0D108BD9-81ED-4DB2-BD59-A6C34878D82A}">
                    <a16:rowId xmlns:a16="http://schemas.microsoft.com/office/drawing/2014/main" val="10008"/>
                  </a:ext>
                </a:extLst>
              </a:tr>
              <a:tr h="475488">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Settled_By</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INVOICE</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PAYMENT</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1 : N</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1400" dirty="0">
                          <a:solidFill>
                            <a:srgbClr val="1B2A49"/>
                          </a:solidFill>
                          <a:latin typeface="Calibri" pitchFamily="34" charset="0"/>
                          <a:ea typeface="Calibri" pitchFamily="34" charset="-122"/>
                          <a:cs typeface="Calibri" pitchFamily="34" charset="-120"/>
                        </a:rPr>
                        <a:t>Partial : Total</a:t>
                      </a:r>
                      <a:endParaRPr lang="en-US" sz="1400" dirty="0">
                        <a:latin typeface="Calibri" charset="0"/>
                        <a:ea typeface="Calibri" charset="0"/>
                        <a:cs typeface="Calibri" charset="0"/>
                      </a:endParaRPr>
                    </a:p>
                  </a:txBody>
                  <a:tcPr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4" name="Shape 1"/>
          <p:cNvSpPr/>
          <p:nvPr/>
        </p:nvSpPr>
        <p:spPr>
          <a:xfrm>
            <a:off x="8595360" y="1371600"/>
            <a:ext cx="3017520" cy="1371600"/>
          </a:xfrm>
          <a:prstGeom prst="roundRect">
            <a:avLst>
              <a:gd name="adj" fmla="val 8000"/>
            </a:avLst>
          </a:prstGeom>
          <a:solidFill>
            <a:srgbClr val="EEF2F8"/>
          </a:solidFill>
          <a:ln w="12700">
            <a:solidFill>
              <a:srgbClr val="EEF2F8"/>
            </a:solidFill>
            <a:prstDash val="solid"/>
          </a:ln>
        </p:spPr>
        <p:txBody>
          <a:bodyPr/>
          <a:lstStyle/>
          <a:p>
            <a:endParaRPr lang="en-BB"/>
          </a:p>
        </p:txBody>
      </p:sp>
      <p:sp>
        <p:nvSpPr>
          <p:cNvPr id="5" name="Text 2"/>
          <p:cNvSpPr txBox="1"/>
          <p:nvPr/>
        </p:nvSpPr>
        <p:spPr>
          <a:xfrm>
            <a:off x="8778240" y="1463040"/>
            <a:ext cx="2651760" cy="548640"/>
          </a:xfrm>
          <a:prstGeom prst="rect">
            <a:avLst/>
          </a:prstGeom>
          <a:noFill/>
          <a:ln/>
        </p:spPr>
        <p:txBody>
          <a:bodyPr wrap="square" lIns="0" tIns="0" rIns="0" bIns="0" rtlCol="0" anchor="ctr"/>
          <a:lstStyle/>
          <a:p>
            <a:pPr marL="0" indent="0">
              <a:buNone/>
            </a:pPr>
            <a:r>
              <a:rPr lang="en-US" sz="3400" b="1" dirty="0">
                <a:solidFill>
                  <a:srgbClr val="2A9D8F"/>
                </a:solidFill>
                <a:latin typeface="Cambria" pitchFamily="34" charset="0"/>
                <a:ea typeface="Cambria" pitchFamily="34" charset="-122"/>
                <a:cs typeface="Cambria" pitchFamily="34" charset="-120"/>
              </a:rPr>
              <a:t>9</a:t>
            </a:r>
            <a:endParaRPr lang="en-US" sz="3400" dirty="0"/>
          </a:p>
        </p:txBody>
      </p:sp>
      <p:sp>
        <p:nvSpPr>
          <p:cNvPr id="3" name="Text 3"/>
          <p:cNvSpPr txBox="1"/>
          <p:nvPr/>
        </p:nvSpPr>
        <p:spPr>
          <a:xfrm>
            <a:off x="8778240" y="2029968"/>
            <a:ext cx="2651760" cy="640080"/>
          </a:xfrm>
          <a:prstGeom prst="rect">
            <a:avLst/>
          </a:prstGeom>
          <a:noFill/>
          <a:ln/>
        </p:spPr>
        <p:txBody>
          <a:bodyPr wrap="square" lIns="0" tIns="0" rIns="0" bIns="0" rtlCol="0" anchor="t"/>
          <a:lstStyle/>
          <a:p>
            <a:pPr marL="0" indent="0">
              <a:buNone/>
            </a:pPr>
            <a:r>
              <a:rPr lang="en-US" sz="1300" dirty="0">
                <a:solidFill>
                  <a:srgbClr val="1B2A49"/>
                </a:solidFill>
                <a:latin typeface="Calibri" pitchFamily="34" charset="0"/>
                <a:ea typeface="Calibri" pitchFamily="34" charset="-122"/>
                <a:cs typeface="Calibri" pitchFamily="34" charset="-120"/>
              </a:rPr>
              <a:t>relationships, all one-to-many (1 : N)</a:t>
            </a:r>
            <a:endParaRPr lang="en-US" sz="1300" dirty="0"/>
          </a:p>
        </p:txBody>
      </p:sp>
      <p:sp>
        <p:nvSpPr>
          <p:cNvPr id="7" name="Shape 4"/>
          <p:cNvSpPr/>
          <p:nvPr/>
        </p:nvSpPr>
        <p:spPr>
          <a:xfrm>
            <a:off x="8595360" y="2926080"/>
            <a:ext cx="3017520" cy="1371600"/>
          </a:xfrm>
          <a:prstGeom prst="roundRect">
            <a:avLst>
              <a:gd name="adj" fmla="val 8000"/>
            </a:avLst>
          </a:prstGeom>
          <a:solidFill>
            <a:srgbClr val="EEF2F8"/>
          </a:solidFill>
          <a:ln w="12700">
            <a:solidFill>
              <a:srgbClr val="EEF2F8"/>
            </a:solidFill>
            <a:prstDash val="solid"/>
          </a:ln>
        </p:spPr>
        <p:txBody>
          <a:bodyPr/>
          <a:lstStyle/>
          <a:p>
            <a:endParaRPr lang="en-BB"/>
          </a:p>
        </p:txBody>
      </p:sp>
      <p:sp>
        <p:nvSpPr>
          <p:cNvPr id="8" name="Text 5"/>
          <p:cNvSpPr txBox="1"/>
          <p:nvPr/>
        </p:nvSpPr>
        <p:spPr>
          <a:xfrm>
            <a:off x="8778240" y="3017520"/>
            <a:ext cx="2651760" cy="548640"/>
          </a:xfrm>
          <a:prstGeom prst="rect">
            <a:avLst/>
          </a:prstGeom>
          <a:noFill/>
          <a:ln/>
        </p:spPr>
        <p:txBody>
          <a:bodyPr wrap="square" lIns="0" tIns="0" rIns="0" bIns="0" rtlCol="0" anchor="ctr"/>
          <a:lstStyle/>
          <a:p>
            <a:pPr marL="0" indent="0">
              <a:buNone/>
            </a:pPr>
            <a:r>
              <a:rPr lang="en-US" sz="3400" b="1" dirty="0">
                <a:solidFill>
                  <a:srgbClr val="2A9D8F"/>
                </a:solidFill>
                <a:latin typeface="Cambria" pitchFamily="34" charset="0"/>
                <a:ea typeface="Cambria" pitchFamily="34" charset="-122"/>
                <a:cs typeface="Cambria" pitchFamily="34" charset="-120"/>
              </a:rPr>
              <a:t>2</a:t>
            </a:r>
            <a:endParaRPr lang="en-US" sz="3400" dirty="0"/>
          </a:p>
        </p:txBody>
      </p:sp>
      <p:sp>
        <p:nvSpPr>
          <p:cNvPr id="9" name="Text 6"/>
          <p:cNvSpPr txBox="1"/>
          <p:nvPr/>
        </p:nvSpPr>
        <p:spPr>
          <a:xfrm>
            <a:off x="8778240" y="3584448"/>
            <a:ext cx="2651760" cy="640080"/>
          </a:xfrm>
          <a:prstGeom prst="rect">
            <a:avLst/>
          </a:prstGeom>
          <a:noFill/>
          <a:ln/>
        </p:spPr>
        <p:txBody>
          <a:bodyPr wrap="square" lIns="0" tIns="0" rIns="0" bIns="0" rtlCol="0" anchor="t"/>
          <a:lstStyle/>
          <a:p>
            <a:pPr marL="0" indent="0">
              <a:buNone/>
            </a:pPr>
            <a:r>
              <a:rPr lang="en-US" sz="1300" dirty="0">
                <a:solidFill>
                  <a:srgbClr val="1B2A49"/>
                </a:solidFill>
                <a:latin typeface="Calibri" pitchFamily="34" charset="0"/>
                <a:ea typeface="Calibri" pitchFamily="34" charset="-122"/>
                <a:cs typeface="Calibri" pitchFamily="34" charset="-120"/>
              </a:rPr>
              <a:t>associative entities (INVENTORY, ORDER_DETAIL) resolve the many-to-many links</a:t>
            </a:r>
            <a:endParaRPr lang="en-US" sz="1300" dirty="0"/>
          </a:p>
        </p:txBody>
      </p:sp>
      <p:sp>
        <p:nvSpPr>
          <p:cNvPr id="10" name="Shape 7"/>
          <p:cNvSpPr/>
          <p:nvPr/>
        </p:nvSpPr>
        <p:spPr>
          <a:xfrm>
            <a:off x="8595360" y="4480560"/>
            <a:ext cx="3017520" cy="1371600"/>
          </a:xfrm>
          <a:prstGeom prst="roundRect">
            <a:avLst>
              <a:gd name="adj" fmla="val 8000"/>
            </a:avLst>
          </a:prstGeom>
          <a:solidFill>
            <a:srgbClr val="EEF2F8"/>
          </a:solidFill>
          <a:ln w="12700">
            <a:solidFill>
              <a:srgbClr val="EEF2F8"/>
            </a:solidFill>
            <a:prstDash val="solid"/>
          </a:ln>
        </p:spPr>
        <p:txBody>
          <a:bodyPr/>
          <a:lstStyle/>
          <a:p>
            <a:endParaRPr lang="en-BB"/>
          </a:p>
        </p:txBody>
      </p:sp>
      <p:sp>
        <p:nvSpPr>
          <p:cNvPr id="11" name="Text 8"/>
          <p:cNvSpPr txBox="1"/>
          <p:nvPr/>
        </p:nvSpPr>
        <p:spPr>
          <a:xfrm>
            <a:off x="8778240" y="4572000"/>
            <a:ext cx="2651760" cy="548640"/>
          </a:xfrm>
          <a:prstGeom prst="rect">
            <a:avLst/>
          </a:prstGeom>
          <a:noFill/>
          <a:ln/>
        </p:spPr>
        <p:txBody>
          <a:bodyPr wrap="square" lIns="0" tIns="0" rIns="0" bIns="0" rtlCol="0" anchor="ctr"/>
          <a:lstStyle/>
          <a:p>
            <a:pPr marL="0" indent="0">
              <a:buNone/>
            </a:pPr>
            <a:r>
              <a:rPr lang="en-US" sz="2600" b="1" dirty="0">
                <a:solidFill>
                  <a:srgbClr val="2A9D8F"/>
                </a:solidFill>
                <a:latin typeface="Cambria" pitchFamily="34" charset="0"/>
                <a:ea typeface="Cambria" pitchFamily="34" charset="-122"/>
                <a:cs typeface="Cambria" pitchFamily="34" charset="-120"/>
              </a:rPr>
              <a:t>N side</a:t>
            </a:r>
            <a:endParaRPr lang="en-US" sz="2600" dirty="0"/>
          </a:p>
        </p:txBody>
      </p:sp>
      <p:sp>
        <p:nvSpPr>
          <p:cNvPr id="12" name="Text 9"/>
          <p:cNvSpPr txBox="1"/>
          <p:nvPr/>
        </p:nvSpPr>
        <p:spPr>
          <a:xfrm>
            <a:off x="8778240" y="5138928"/>
            <a:ext cx="2651760" cy="640080"/>
          </a:xfrm>
          <a:prstGeom prst="rect">
            <a:avLst/>
          </a:prstGeom>
          <a:noFill/>
          <a:ln/>
        </p:spPr>
        <p:txBody>
          <a:bodyPr wrap="square" lIns="0" tIns="0" rIns="0" bIns="0" rtlCol="0" anchor="t"/>
          <a:lstStyle/>
          <a:p>
            <a:pPr marL="0" indent="0">
              <a:buNone/>
            </a:pPr>
            <a:r>
              <a:rPr lang="en-US" sz="1300" dirty="0">
                <a:solidFill>
                  <a:srgbClr val="1B2A49"/>
                </a:solidFill>
                <a:latin typeface="Calibri" pitchFamily="34" charset="0"/>
                <a:ea typeface="Calibri" pitchFamily="34" charset="-122"/>
                <a:cs typeface="Calibri" pitchFamily="34" charset="-120"/>
              </a:rPr>
              <a:t>always holds the foreign key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640080"/>
          </a:xfrm>
          <a:prstGeom prst="rect">
            <a:avLst/>
          </a:prstGeom>
          <a:noFill/>
          <a:ln/>
        </p:spPr>
        <p:txBody>
          <a:bodyPr wrap="square" lIns="0" tIns="0" rIns="0" bIns="0" rtlCol="0" anchor="ctr"/>
          <a:lstStyle/>
          <a:p>
            <a:pPr marL="0" indent="0">
              <a:buNone/>
            </a:pPr>
            <a:r>
              <a:rPr lang="en-US" sz="3000" b="1" dirty="0">
                <a:solidFill>
                  <a:srgbClr val="1B2A49"/>
                </a:solidFill>
                <a:latin typeface="Cambria" pitchFamily="34" charset="0"/>
                <a:ea typeface="Cambria" pitchFamily="34" charset="-122"/>
                <a:cs typeface="Cambria" pitchFamily="34" charset="-120"/>
              </a:rPr>
              <a:t>Logical design: relational schema</a:t>
            </a:r>
            <a:endParaRPr lang="en-US" sz="3000" dirty="0"/>
          </a:p>
        </p:txBody>
      </p:sp>
      <p:pic>
        <p:nvPicPr>
          <p:cNvPr id="3" name="Image 0" descr="/mnt/user-data/outputs/Final_Relational_Schema_Stacked.png"/>
          <p:cNvPicPr>
            <a:picLocks noChangeAspect="1"/>
          </p:cNvPicPr>
          <p:nvPr/>
        </p:nvPicPr>
        <p:blipFill>
          <a:blip r:embed="rId3"/>
          <a:stretch>
            <a:fillRect/>
          </a:stretch>
        </p:blipFill>
        <p:spPr>
          <a:xfrm>
            <a:off x="548640" y="1051560"/>
            <a:ext cx="5394960" cy="5513832"/>
          </a:xfrm>
          <a:prstGeom prst="rect">
            <a:avLst/>
          </a:prstGeom>
        </p:spPr>
      </p:pic>
      <p:sp>
        <p:nvSpPr>
          <p:cNvPr id="4" name="Shape 1"/>
          <p:cNvSpPr/>
          <p:nvPr/>
        </p:nvSpPr>
        <p:spPr>
          <a:xfrm>
            <a:off x="6309360" y="1188720"/>
            <a:ext cx="5303520" cy="1143000"/>
          </a:xfrm>
          <a:prstGeom prst="roundRect">
            <a:avLst>
              <a:gd name="adj" fmla="val 9600"/>
            </a:avLst>
          </a:prstGeom>
          <a:solidFill>
            <a:srgbClr val="EEF2F8"/>
          </a:solidFill>
          <a:ln w="12700">
            <a:solidFill>
              <a:srgbClr val="EEF2F8"/>
            </a:solidFill>
            <a:prstDash val="solid"/>
          </a:ln>
        </p:spPr>
        <p:txBody>
          <a:bodyPr/>
          <a:lstStyle/>
          <a:p>
            <a:endParaRPr lang="en-BB"/>
          </a:p>
        </p:txBody>
      </p:sp>
      <p:sp>
        <p:nvSpPr>
          <p:cNvPr id="5" name="Text 2"/>
          <p:cNvSpPr txBox="1"/>
          <p:nvPr/>
        </p:nvSpPr>
        <p:spPr>
          <a:xfrm>
            <a:off x="6537960" y="1298448"/>
            <a:ext cx="4846320" cy="365760"/>
          </a:xfrm>
          <a:prstGeom prst="rect">
            <a:avLst/>
          </a:prstGeom>
          <a:noFill/>
          <a:ln/>
        </p:spPr>
        <p:txBody>
          <a:bodyPr wrap="square" lIns="0" tIns="0" rIns="0" bIns="0" rtlCol="0" anchor="ctr"/>
          <a:lstStyle/>
          <a:p>
            <a:pPr marL="0" indent="0">
              <a:buNone/>
            </a:pPr>
            <a:r>
              <a:rPr lang="en-US" sz="1800" b="1" dirty="0">
                <a:solidFill>
                  <a:srgbClr val="2A9D8F"/>
                </a:solidFill>
                <a:latin typeface="Cambria" pitchFamily="34" charset="0"/>
                <a:ea typeface="Cambria" pitchFamily="34" charset="-122"/>
                <a:cs typeface="Cambria" pitchFamily="34" charset="-120"/>
              </a:rPr>
              <a:t>Step 1</a:t>
            </a:r>
            <a:endParaRPr lang="en-US" sz="1800" dirty="0"/>
          </a:p>
        </p:txBody>
      </p:sp>
      <p:sp>
        <p:nvSpPr>
          <p:cNvPr id="6" name="Text 3"/>
          <p:cNvSpPr txBox="1"/>
          <p:nvPr/>
        </p:nvSpPr>
        <p:spPr>
          <a:xfrm>
            <a:off x="6537960" y="1664208"/>
            <a:ext cx="4846320" cy="594360"/>
          </a:xfrm>
          <a:prstGeom prst="rect">
            <a:avLst/>
          </a:prstGeom>
          <a:noFill/>
          <a:ln/>
        </p:spPr>
        <p:txBody>
          <a:bodyPr wrap="square" lIns="0" tIns="0" rIns="0" bIns="0" rtlCol="0" anchor="t"/>
          <a:lstStyle/>
          <a:p>
            <a:pPr marL="0" indent="0">
              <a:buNone/>
            </a:pPr>
            <a:r>
              <a:rPr lang="en-US" sz="1500" dirty="0">
                <a:solidFill>
                  <a:srgbClr val="1B2A49"/>
                </a:solidFill>
                <a:latin typeface="Calibri" pitchFamily="34" charset="0"/>
                <a:ea typeface="Calibri" pitchFamily="34" charset="-122"/>
                <a:cs typeface="Calibri" pitchFamily="34" charset="-120"/>
              </a:rPr>
              <a:t>The 9 entities become 9 relations, each with a primary key.</a:t>
            </a:r>
            <a:endParaRPr lang="en-US" sz="1500" dirty="0"/>
          </a:p>
        </p:txBody>
      </p:sp>
      <p:sp>
        <p:nvSpPr>
          <p:cNvPr id="7" name="Shape 4"/>
          <p:cNvSpPr/>
          <p:nvPr/>
        </p:nvSpPr>
        <p:spPr>
          <a:xfrm>
            <a:off x="6309360" y="2514600"/>
            <a:ext cx="5303520" cy="1143000"/>
          </a:xfrm>
          <a:prstGeom prst="roundRect">
            <a:avLst>
              <a:gd name="adj" fmla="val 9600"/>
            </a:avLst>
          </a:prstGeom>
          <a:solidFill>
            <a:srgbClr val="EEF2F8"/>
          </a:solidFill>
          <a:ln w="12700">
            <a:solidFill>
              <a:srgbClr val="EEF2F8"/>
            </a:solidFill>
            <a:prstDash val="solid"/>
          </a:ln>
        </p:spPr>
        <p:txBody>
          <a:bodyPr/>
          <a:lstStyle/>
          <a:p>
            <a:endParaRPr lang="en-BB"/>
          </a:p>
        </p:txBody>
      </p:sp>
      <p:sp>
        <p:nvSpPr>
          <p:cNvPr id="8" name="Text 5"/>
          <p:cNvSpPr txBox="1"/>
          <p:nvPr/>
        </p:nvSpPr>
        <p:spPr>
          <a:xfrm>
            <a:off x="6537960" y="2624328"/>
            <a:ext cx="4846320" cy="365760"/>
          </a:xfrm>
          <a:prstGeom prst="rect">
            <a:avLst/>
          </a:prstGeom>
          <a:noFill/>
          <a:ln/>
        </p:spPr>
        <p:txBody>
          <a:bodyPr wrap="square" lIns="0" tIns="0" rIns="0" bIns="0" rtlCol="0" anchor="ctr"/>
          <a:lstStyle/>
          <a:p>
            <a:pPr marL="0" indent="0">
              <a:buNone/>
            </a:pPr>
            <a:r>
              <a:rPr lang="en-US" sz="1800" b="1" dirty="0">
                <a:solidFill>
                  <a:srgbClr val="2A9D8F"/>
                </a:solidFill>
                <a:latin typeface="Cambria" pitchFamily="34" charset="0"/>
                <a:ea typeface="Cambria" pitchFamily="34" charset="-122"/>
                <a:cs typeface="Cambria" pitchFamily="34" charset="-120"/>
              </a:rPr>
              <a:t>Step 4</a:t>
            </a:r>
            <a:endParaRPr lang="en-US" sz="1800" dirty="0"/>
          </a:p>
        </p:txBody>
      </p:sp>
      <p:sp>
        <p:nvSpPr>
          <p:cNvPr id="9" name="Text 6"/>
          <p:cNvSpPr txBox="1"/>
          <p:nvPr/>
        </p:nvSpPr>
        <p:spPr>
          <a:xfrm>
            <a:off x="6537960" y="2990088"/>
            <a:ext cx="4846320" cy="594360"/>
          </a:xfrm>
          <a:prstGeom prst="rect">
            <a:avLst/>
          </a:prstGeom>
          <a:noFill/>
          <a:ln/>
        </p:spPr>
        <p:txBody>
          <a:bodyPr wrap="square" lIns="0" tIns="0" rIns="0" bIns="0" rtlCol="0" anchor="t"/>
          <a:lstStyle/>
          <a:p>
            <a:pPr marL="0" indent="0">
              <a:buNone/>
            </a:pPr>
            <a:r>
              <a:rPr lang="en-US" sz="1500" dirty="0">
                <a:solidFill>
                  <a:srgbClr val="1B2A49"/>
                </a:solidFill>
                <a:latin typeface="Calibri" pitchFamily="34" charset="0"/>
                <a:ea typeface="Calibri" pitchFamily="34" charset="-122"/>
                <a:cs typeface="Calibri" pitchFamily="34" charset="-120"/>
              </a:rPr>
              <a:t>The 9 one-to-many relationships become 9 foreign keys on the N side.</a:t>
            </a:r>
            <a:endParaRPr lang="en-US" sz="1500" dirty="0"/>
          </a:p>
        </p:txBody>
      </p:sp>
      <p:sp>
        <p:nvSpPr>
          <p:cNvPr id="10" name="Shape 7"/>
          <p:cNvSpPr/>
          <p:nvPr/>
        </p:nvSpPr>
        <p:spPr>
          <a:xfrm>
            <a:off x="6309360" y="3840480"/>
            <a:ext cx="5303520" cy="1143000"/>
          </a:xfrm>
          <a:prstGeom prst="roundRect">
            <a:avLst>
              <a:gd name="adj" fmla="val 9600"/>
            </a:avLst>
          </a:prstGeom>
          <a:solidFill>
            <a:srgbClr val="EEF2F8"/>
          </a:solidFill>
          <a:ln w="12700">
            <a:solidFill>
              <a:srgbClr val="EEF2F8"/>
            </a:solidFill>
            <a:prstDash val="solid"/>
          </a:ln>
        </p:spPr>
        <p:txBody>
          <a:bodyPr/>
          <a:lstStyle/>
          <a:p>
            <a:endParaRPr lang="en-BB"/>
          </a:p>
        </p:txBody>
      </p:sp>
      <p:sp>
        <p:nvSpPr>
          <p:cNvPr id="11" name="Text 8"/>
          <p:cNvSpPr txBox="1"/>
          <p:nvPr/>
        </p:nvSpPr>
        <p:spPr>
          <a:xfrm>
            <a:off x="6537960" y="3950208"/>
            <a:ext cx="4846320" cy="365760"/>
          </a:xfrm>
          <a:prstGeom prst="rect">
            <a:avLst/>
          </a:prstGeom>
          <a:noFill/>
          <a:ln/>
        </p:spPr>
        <p:txBody>
          <a:bodyPr wrap="square" lIns="0" tIns="0" rIns="0" bIns="0" rtlCol="0" anchor="ctr"/>
          <a:lstStyle/>
          <a:p>
            <a:pPr marL="0" indent="0">
              <a:buNone/>
            </a:pPr>
            <a:r>
              <a:rPr lang="en-US" sz="1800" b="1" dirty="0">
                <a:solidFill>
                  <a:srgbClr val="2A9D8F"/>
                </a:solidFill>
                <a:latin typeface="Cambria" pitchFamily="34" charset="0"/>
                <a:ea typeface="Cambria" pitchFamily="34" charset="-122"/>
                <a:cs typeface="Cambria" pitchFamily="34" charset="-120"/>
              </a:rPr>
              <a:t>Steps 2, 3, 5, 6, 7</a:t>
            </a:r>
            <a:endParaRPr lang="en-US" sz="1800" dirty="0"/>
          </a:p>
        </p:txBody>
      </p:sp>
      <p:sp>
        <p:nvSpPr>
          <p:cNvPr id="12" name="Text 9"/>
          <p:cNvSpPr txBox="1"/>
          <p:nvPr/>
        </p:nvSpPr>
        <p:spPr>
          <a:xfrm>
            <a:off x="6537960" y="4315968"/>
            <a:ext cx="4846320" cy="594360"/>
          </a:xfrm>
          <a:prstGeom prst="rect">
            <a:avLst/>
          </a:prstGeom>
          <a:noFill/>
          <a:ln/>
        </p:spPr>
        <p:txBody>
          <a:bodyPr wrap="square" lIns="0" tIns="0" rIns="0" bIns="0" rtlCol="0" anchor="t"/>
          <a:lstStyle/>
          <a:p>
            <a:pPr marL="0" indent="0">
              <a:buNone/>
            </a:pPr>
            <a:r>
              <a:rPr lang="en-US" sz="1500" dirty="0">
                <a:solidFill>
                  <a:srgbClr val="1B2A49"/>
                </a:solidFill>
                <a:latin typeface="Calibri" pitchFamily="34" charset="0"/>
                <a:ea typeface="Calibri" pitchFamily="34" charset="-122"/>
                <a:cs typeface="Calibri" pitchFamily="34" charset="-120"/>
              </a:rPr>
              <a:t>Nothing to map: no weak entities, 1:1, M:N, multivalued or n-ary links.</a:t>
            </a:r>
            <a:endParaRPr lang="en-US" sz="1500" dirty="0"/>
          </a:p>
        </p:txBody>
      </p:sp>
      <p:sp>
        <p:nvSpPr>
          <p:cNvPr id="13" name="Shape 10"/>
          <p:cNvSpPr/>
          <p:nvPr/>
        </p:nvSpPr>
        <p:spPr>
          <a:xfrm>
            <a:off x="6309360" y="5212080"/>
            <a:ext cx="5303520" cy="1280160"/>
          </a:xfrm>
          <a:prstGeom prst="roundRect">
            <a:avLst>
              <a:gd name="adj" fmla="val 8571"/>
            </a:avLst>
          </a:prstGeom>
          <a:solidFill>
            <a:srgbClr val="1B2A49"/>
          </a:solidFill>
          <a:ln w="12700">
            <a:solidFill>
              <a:srgbClr val="1B2A49"/>
            </a:solidFill>
            <a:prstDash val="solid"/>
          </a:ln>
        </p:spPr>
        <p:txBody>
          <a:bodyPr/>
          <a:lstStyle/>
          <a:p>
            <a:endParaRPr lang="en-BB"/>
          </a:p>
        </p:txBody>
      </p:sp>
      <p:sp>
        <p:nvSpPr>
          <p:cNvPr id="14" name="Text 11"/>
          <p:cNvSpPr txBox="1"/>
          <p:nvPr/>
        </p:nvSpPr>
        <p:spPr>
          <a:xfrm>
            <a:off x="6537960" y="5212080"/>
            <a:ext cx="4846320" cy="1280160"/>
          </a:xfrm>
          <a:prstGeom prst="rect">
            <a:avLst/>
          </a:prstGeom>
          <a:noFill/>
          <a:ln/>
        </p:spPr>
        <p:txBody>
          <a:bodyPr wrap="square" lIns="0" tIns="0" rIns="0" bIns="0"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Reading the schema</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Solid underline = primary key, dashed underline = foreign key. Each arrow runs from a foreign key to the primary key it references.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Normalization to Third Normal Form</a:t>
            </a:r>
            <a:endParaRPr lang="en-US" sz="3400" dirty="0"/>
          </a:p>
        </p:txBody>
      </p:sp>
      <p:sp>
        <p:nvSpPr>
          <p:cNvPr id="3" name="Shape 1"/>
          <p:cNvSpPr/>
          <p:nvPr/>
        </p:nvSpPr>
        <p:spPr>
          <a:xfrm>
            <a:off x="548640" y="1463040"/>
            <a:ext cx="2423160" cy="3200400"/>
          </a:xfrm>
          <a:prstGeom prst="roundRect">
            <a:avLst>
              <a:gd name="adj" fmla="val 4528"/>
            </a:avLst>
          </a:prstGeom>
          <a:solidFill>
            <a:srgbClr val="EEF2F8"/>
          </a:solidFill>
          <a:ln w="12700">
            <a:solidFill>
              <a:srgbClr val="EEF2F8"/>
            </a:solidFill>
            <a:prstDash val="solid"/>
          </a:ln>
          <a:effectLst>
            <a:outerShdw blurRad="101600" dist="25400" dir="5400000" algn="bl" rotWithShape="0">
              <a:srgbClr val="000000">
                <a:alpha val="12000"/>
              </a:srgbClr>
            </a:outerShdw>
          </a:effectLst>
        </p:spPr>
        <p:txBody>
          <a:bodyPr/>
          <a:lstStyle/>
          <a:p>
            <a:endParaRPr lang="en-BB"/>
          </a:p>
        </p:txBody>
      </p:sp>
      <p:sp>
        <p:nvSpPr>
          <p:cNvPr id="4" name="Shape 2"/>
          <p:cNvSpPr/>
          <p:nvPr/>
        </p:nvSpPr>
        <p:spPr>
          <a:xfrm>
            <a:off x="777240" y="1691640"/>
            <a:ext cx="1371600" cy="685800"/>
          </a:xfrm>
          <a:prstGeom prst="roundRect">
            <a:avLst>
              <a:gd name="adj" fmla="val 13333"/>
            </a:avLst>
          </a:prstGeom>
          <a:solidFill>
            <a:srgbClr val="E76F51"/>
          </a:solidFill>
          <a:ln w="12700">
            <a:solidFill>
              <a:srgbClr val="E76F51"/>
            </a:solidFill>
            <a:prstDash val="solid"/>
          </a:ln>
        </p:spPr>
        <p:txBody>
          <a:bodyPr/>
          <a:lstStyle/>
          <a:p>
            <a:endParaRPr lang="en-BB"/>
          </a:p>
        </p:txBody>
      </p:sp>
      <p:sp>
        <p:nvSpPr>
          <p:cNvPr id="5" name="Text 3"/>
          <p:cNvSpPr txBox="1"/>
          <p:nvPr/>
        </p:nvSpPr>
        <p:spPr>
          <a:xfrm>
            <a:off x="777240" y="1691640"/>
            <a:ext cx="1371600" cy="68580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UNF</a:t>
            </a:r>
            <a:endParaRPr lang="en-US" sz="2800" dirty="0"/>
          </a:p>
        </p:txBody>
      </p:sp>
      <p:sp>
        <p:nvSpPr>
          <p:cNvPr id="6" name="Text 4"/>
          <p:cNvSpPr txBox="1"/>
          <p:nvPr/>
        </p:nvSpPr>
        <p:spPr>
          <a:xfrm>
            <a:off x="777240" y="2606040"/>
            <a:ext cx="2011680" cy="1920240"/>
          </a:xfrm>
          <a:prstGeom prst="rect">
            <a:avLst/>
          </a:prstGeom>
          <a:noFill/>
          <a:ln/>
        </p:spPr>
        <p:txBody>
          <a:bodyPr wrap="square" lIns="0" tIns="0" rIns="0" bIns="0" rtlCol="0" anchor="t"/>
          <a:lstStyle/>
          <a:p>
            <a:pPr marL="0" indent="0">
              <a:buNone/>
            </a:pPr>
            <a:r>
              <a:rPr lang="en-US" sz="1500" dirty="0">
                <a:solidFill>
                  <a:srgbClr val="1B2A49"/>
                </a:solidFill>
                <a:latin typeface="Calibri" pitchFamily="34" charset="0"/>
                <a:ea typeface="Calibri" pitchFamily="34" charset="-122"/>
                <a:cs typeface="Calibri" pitchFamily="34" charset="-120"/>
              </a:rPr>
              <a:t>One wide sales record with repeating groups: payments, product lines and warehouse stock.</a:t>
            </a:r>
            <a:endParaRPr lang="en-US" sz="1500" dirty="0"/>
          </a:p>
        </p:txBody>
      </p:sp>
      <p:sp>
        <p:nvSpPr>
          <p:cNvPr id="7" name="Shape 5"/>
          <p:cNvSpPr/>
          <p:nvPr/>
        </p:nvSpPr>
        <p:spPr>
          <a:xfrm>
            <a:off x="3035808" y="2834640"/>
            <a:ext cx="329184" cy="411480"/>
          </a:xfrm>
          <a:prstGeom prst="rightArrow">
            <a:avLst/>
          </a:prstGeom>
          <a:solidFill>
            <a:srgbClr val="5B6B84"/>
          </a:solidFill>
          <a:ln w="12700">
            <a:solidFill>
              <a:srgbClr val="5B6B84"/>
            </a:solidFill>
            <a:prstDash val="solid"/>
          </a:ln>
        </p:spPr>
        <p:txBody>
          <a:bodyPr/>
          <a:lstStyle/>
          <a:p>
            <a:endParaRPr lang="en-BB"/>
          </a:p>
        </p:txBody>
      </p:sp>
      <p:sp>
        <p:nvSpPr>
          <p:cNvPr id="8" name="Shape 6"/>
          <p:cNvSpPr/>
          <p:nvPr/>
        </p:nvSpPr>
        <p:spPr>
          <a:xfrm>
            <a:off x="3429000" y="1463040"/>
            <a:ext cx="2423160" cy="3200400"/>
          </a:xfrm>
          <a:prstGeom prst="roundRect">
            <a:avLst>
              <a:gd name="adj" fmla="val 4528"/>
            </a:avLst>
          </a:prstGeom>
          <a:solidFill>
            <a:srgbClr val="EEF2F8"/>
          </a:solidFill>
          <a:ln w="12700">
            <a:solidFill>
              <a:srgbClr val="EEF2F8"/>
            </a:solidFill>
            <a:prstDash val="solid"/>
          </a:ln>
          <a:effectLst>
            <a:outerShdw blurRad="101600" dist="25400" dir="5400000" algn="bl" rotWithShape="0">
              <a:srgbClr val="000000">
                <a:alpha val="12000"/>
              </a:srgbClr>
            </a:outerShdw>
          </a:effectLst>
        </p:spPr>
        <p:txBody>
          <a:bodyPr/>
          <a:lstStyle/>
          <a:p>
            <a:endParaRPr lang="en-BB"/>
          </a:p>
        </p:txBody>
      </p:sp>
      <p:sp>
        <p:nvSpPr>
          <p:cNvPr id="9" name="Shape 7"/>
          <p:cNvSpPr/>
          <p:nvPr/>
        </p:nvSpPr>
        <p:spPr>
          <a:xfrm>
            <a:off x="3657600" y="1691640"/>
            <a:ext cx="1371600" cy="685800"/>
          </a:xfrm>
          <a:prstGeom prst="roundRect">
            <a:avLst>
              <a:gd name="adj" fmla="val 13333"/>
            </a:avLst>
          </a:prstGeom>
          <a:solidFill>
            <a:srgbClr val="1B2A49"/>
          </a:solidFill>
          <a:ln w="12700">
            <a:solidFill>
              <a:srgbClr val="1B2A49"/>
            </a:solidFill>
            <a:prstDash val="solid"/>
          </a:ln>
        </p:spPr>
        <p:txBody>
          <a:bodyPr/>
          <a:lstStyle/>
          <a:p>
            <a:endParaRPr lang="en-BB"/>
          </a:p>
        </p:txBody>
      </p:sp>
      <p:sp>
        <p:nvSpPr>
          <p:cNvPr id="10" name="Text 8"/>
          <p:cNvSpPr txBox="1"/>
          <p:nvPr/>
        </p:nvSpPr>
        <p:spPr>
          <a:xfrm>
            <a:off x="3657600" y="1691640"/>
            <a:ext cx="1371600" cy="68580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1NF</a:t>
            </a:r>
            <a:endParaRPr lang="en-US" sz="2800" dirty="0"/>
          </a:p>
        </p:txBody>
      </p:sp>
      <p:sp>
        <p:nvSpPr>
          <p:cNvPr id="11" name="Text 9"/>
          <p:cNvSpPr txBox="1"/>
          <p:nvPr/>
        </p:nvSpPr>
        <p:spPr>
          <a:xfrm>
            <a:off x="3657600" y="2606040"/>
            <a:ext cx="2011680" cy="1920240"/>
          </a:xfrm>
          <a:prstGeom prst="rect">
            <a:avLst/>
          </a:prstGeom>
          <a:noFill/>
          <a:ln/>
        </p:spPr>
        <p:txBody>
          <a:bodyPr wrap="square" lIns="0" tIns="0" rIns="0" bIns="0" rtlCol="0" anchor="t"/>
          <a:lstStyle/>
          <a:p>
            <a:pPr marL="0" indent="0">
              <a:buNone/>
            </a:pPr>
            <a:r>
              <a:rPr lang="en-US" sz="1500" dirty="0">
                <a:solidFill>
                  <a:srgbClr val="1B2A49"/>
                </a:solidFill>
                <a:latin typeface="Calibri" pitchFamily="34" charset="0"/>
                <a:ea typeface="Calibri" pitchFamily="34" charset="-122"/>
                <a:cs typeface="Calibri" pitchFamily="34" charset="-120"/>
              </a:rPr>
              <a:t>Repeating groups become rows. Every column holds one atomic value and every table has a primary key.</a:t>
            </a:r>
            <a:endParaRPr lang="en-US" sz="1500" dirty="0"/>
          </a:p>
        </p:txBody>
      </p:sp>
      <p:sp>
        <p:nvSpPr>
          <p:cNvPr id="12" name="Shape 10"/>
          <p:cNvSpPr/>
          <p:nvPr/>
        </p:nvSpPr>
        <p:spPr>
          <a:xfrm>
            <a:off x="5916168" y="2834640"/>
            <a:ext cx="329184" cy="411480"/>
          </a:xfrm>
          <a:prstGeom prst="rightArrow">
            <a:avLst/>
          </a:prstGeom>
          <a:solidFill>
            <a:srgbClr val="5B6B84"/>
          </a:solidFill>
          <a:ln w="12700">
            <a:solidFill>
              <a:srgbClr val="5B6B84"/>
            </a:solidFill>
            <a:prstDash val="solid"/>
          </a:ln>
        </p:spPr>
        <p:txBody>
          <a:bodyPr/>
          <a:lstStyle/>
          <a:p>
            <a:endParaRPr lang="en-BB"/>
          </a:p>
        </p:txBody>
      </p:sp>
      <p:sp>
        <p:nvSpPr>
          <p:cNvPr id="13" name="Shape 11"/>
          <p:cNvSpPr/>
          <p:nvPr/>
        </p:nvSpPr>
        <p:spPr>
          <a:xfrm>
            <a:off x="6309360" y="1463040"/>
            <a:ext cx="2423160" cy="3200400"/>
          </a:xfrm>
          <a:prstGeom prst="roundRect">
            <a:avLst>
              <a:gd name="adj" fmla="val 4528"/>
            </a:avLst>
          </a:prstGeom>
          <a:solidFill>
            <a:srgbClr val="EEF2F8"/>
          </a:solidFill>
          <a:ln w="12700">
            <a:solidFill>
              <a:srgbClr val="EEF2F8"/>
            </a:solidFill>
            <a:prstDash val="solid"/>
          </a:ln>
          <a:effectLst>
            <a:outerShdw blurRad="101600" dist="25400" dir="5400000" algn="bl" rotWithShape="0">
              <a:srgbClr val="000000">
                <a:alpha val="12000"/>
              </a:srgbClr>
            </a:outerShdw>
          </a:effectLst>
        </p:spPr>
        <p:txBody>
          <a:bodyPr/>
          <a:lstStyle/>
          <a:p>
            <a:endParaRPr lang="en-BB"/>
          </a:p>
        </p:txBody>
      </p:sp>
      <p:sp>
        <p:nvSpPr>
          <p:cNvPr id="14" name="Shape 12"/>
          <p:cNvSpPr/>
          <p:nvPr/>
        </p:nvSpPr>
        <p:spPr>
          <a:xfrm>
            <a:off x="6537960" y="1691640"/>
            <a:ext cx="1371600" cy="685800"/>
          </a:xfrm>
          <a:prstGeom prst="roundRect">
            <a:avLst>
              <a:gd name="adj" fmla="val 13333"/>
            </a:avLst>
          </a:prstGeom>
          <a:solidFill>
            <a:srgbClr val="1B2A49"/>
          </a:solidFill>
          <a:ln w="12700">
            <a:solidFill>
              <a:srgbClr val="1B2A49"/>
            </a:solidFill>
            <a:prstDash val="solid"/>
          </a:ln>
        </p:spPr>
        <p:txBody>
          <a:bodyPr/>
          <a:lstStyle/>
          <a:p>
            <a:endParaRPr lang="en-BB"/>
          </a:p>
        </p:txBody>
      </p:sp>
      <p:sp>
        <p:nvSpPr>
          <p:cNvPr id="15" name="Text 13"/>
          <p:cNvSpPr txBox="1"/>
          <p:nvPr/>
        </p:nvSpPr>
        <p:spPr>
          <a:xfrm>
            <a:off x="6537960" y="1691640"/>
            <a:ext cx="1371600" cy="68580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2NF</a:t>
            </a:r>
            <a:endParaRPr lang="en-US" sz="2800" dirty="0"/>
          </a:p>
        </p:txBody>
      </p:sp>
      <p:sp>
        <p:nvSpPr>
          <p:cNvPr id="16" name="Text 14"/>
          <p:cNvSpPr txBox="1"/>
          <p:nvPr/>
        </p:nvSpPr>
        <p:spPr>
          <a:xfrm>
            <a:off x="6537960" y="2606040"/>
            <a:ext cx="2011680" cy="1920240"/>
          </a:xfrm>
          <a:prstGeom prst="rect">
            <a:avLst/>
          </a:prstGeom>
          <a:noFill/>
          <a:ln/>
        </p:spPr>
        <p:txBody>
          <a:bodyPr wrap="square" lIns="0" tIns="0" rIns="0" bIns="0" rtlCol="0" anchor="t"/>
          <a:lstStyle/>
          <a:p>
            <a:pPr marL="0" indent="0">
              <a:buNone/>
            </a:pPr>
            <a:r>
              <a:rPr lang="en-US" sz="1500" dirty="0">
                <a:solidFill>
                  <a:srgbClr val="1B2A49"/>
                </a:solidFill>
                <a:latin typeface="Calibri" pitchFamily="34" charset="0"/>
                <a:ea typeface="Calibri" pitchFamily="34" charset="-122"/>
                <a:cs typeface="Calibri" pitchFamily="34" charset="-120"/>
              </a:rPr>
              <a:t>Single-column primary keys, so no attribute depends on only part of a key.</a:t>
            </a:r>
            <a:endParaRPr lang="en-US" sz="1500" dirty="0"/>
          </a:p>
        </p:txBody>
      </p:sp>
      <p:sp>
        <p:nvSpPr>
          <p:cNvPr id="17" name="Shape 15"/>
          <p:cNvSpPr/>
          <p:nvPr/>
        </p:nvSpPr>
        <p:spPr>
          <a:xfrm>
            <a:off x="8796528" y="2834640"/>
            <a:ext cx="329184" cy="411480"/>
          </a:xfrm>
          <a:prstGeom prst="rightArrow">
            <a:avLst/>
          </a:prstGeom>
          <a:solidFill>
            <a:srgbClr val="5B6B84"/>
          </a:solidFill>
          <a:ln w="12700">
            <a:solidFill>
              <a:srgbClr val="5B6B84"/>
            </a:solidFill>
            <a:prstDash val="solid"/>
          </a:ln>
        </p:spPr>
        <p:txBody>
          <a:bodyPr/>
          <a:lstStyle/>
          <a:p>
            <a:endParaRPr lang="en-BB"/>
          </a:p>
        </p:txBody>
      </p:sp>
      <p:sp>
        <p:nvSpPr>
          <p:cNvPr id="18" name="Shape 16"/>
          <p:cNvSpPr/>
          <p:nvPr/>
        </p:nvSpPr>
        <p:spPr>
          <a:xfrm>
            <a:off x="9189720" y="1463040"/>
            <a:ext cx="2423160" cy="3200400"/>
          </a:xfrm>
          <a:prstGeom prst="roundRect">
            <a:avLst>
              <a:gd name="adj" fmla="val 4528"/>
            </a:avLst>
          </a:prstGeom>
          <a:solidFill>
            <a:srgbClr val="EEF2F8"/>
          </a:solidFill>
          <a:ln w="12700">
            <a:solidFill>
              <a:srgbClr val="EEF2F8"/>
            </a:solidFill>
            <a:prstDash val="solid"/>
          </a:ln>
          <a:effectLst>
            <a:outerShdw blurRad="101600" dist="25400" dir="5400000" algn="bl" rotWithShape="0">
              <a:srgbClr val="000000">
                <a:alpha val="12000"/>
              </a:srgbClr>
            </a:outerShdw>
          </a:effectLst>
        </p:spPr>
        <p:txBody>
          <a:bodyPr/>
          <a:lstStyle/>
          <a:p>
            <a:endParaRPr lang="en-BB"/>
          </a:p>
        </p:txBody>
      </p:sp>
      <p:sp>
        <p:nvSpPr>
          <p:cNvPr id="19" name="Shape 17"/>
          <p:cNvSpPr/>
          <p:nvPr/>
        </p:nvSpPr>
        <p:spPr>
          <a:xfrm>
            <a:off x="9418320" y="1691640"/>
            <a:ext cx="1371600" cy="685800"/>
          </a:xfrm>
          <a:prstGeom prst="roundRect">
            <a:avLst>
              <a:gd name="adj" fmla="val 13333"/>
            </a:avLst>
          </a:prstGeom>
          <a:solidFill>
            <a:srgbClr val="2A9D8F"/>
          </a:solidFill>
          <a:ln w="12700">
            <a:solidFill>
              <a:srgbClr val="2A9D8F"/>
            </a:solidFill>
            <a:prstDash val="solid"/>
          </a:ln>
        </p:spPr>
        <p:txBody>
          <a:bodyPr/>
          <a:lstStyle/>
          <a:p>
            <a:endParaRPr lang="en-BB"/>
          </a:p>
        </p:txBody>
      </p:sp>
      <p:sp>
        <p:nvSpPr>
          <p:cNvPr id="20" name="Text 18"/>
          <p:cNvSpPr txBox="1"/>
          <p:nvPr/>
        </p:nvSpPr>
        <p:spPr>
          <a:xfrm>
            <a:off x="9418320" y="1691640"/>
            <a:ext cx="1371600" cy="68580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3NF</a:t>
            </a:r>
            <a:endParaRPr lang="en-US" sz="2800" dirty="0"/>
          </a:p>
        </p:txBody>
      </p:sp>
      <p:sp>
        <p:nvSpPr>
          <p:cNvPr id="21" name="Text 19"/>
          <p:cNvSpPr txBox="1"/>
          <p:nvPr/>
        </p:nvSpPr>
        <p:spPr>
          <a:xfrm>
            <a:off x="9418320" y="2606040"/>
            <a:ext cx="2011680" cy="1920240"/>
          </a:xfrm>
          <a:prstGeom prst="rect">
            <a:avLst/>
          </a:prstGeom>
          <a:noFill/>
          <a:ln/>
        </p:spPr>
        <p:txBody>
          <a:bodyPr wrap="square" lIns="0" tIns="0" rIns="0" bIns="0" rtlCol="0" anchor="t"/>
          <a:lstStyle/>
          <a:p>
            <a:pPr marL="0" indent="0">
              <a:buNone/>
            </a:pPr>
            <a:r>
              <a:rPr lang="en-US" sz="1500" dirty="0">
                <a:solidFill>
                  <a:srgbClr val="1B2A49"/>
                </a:solidFill>
                <a:latin typeface="Calibri" pitchFamily="34" charset="0"/>
                <a:ea typeface="Calibri" pitchFamily="34" charset="-122"/>
                <a:cs typeface="Calibri" pitchFamily="34" charset="-120"/>
              </a:rPr>
              <a:t>Attributes depend only on the key. Supplier and customer details are stored once. Result: 9 tables.</a:t>
            </a:r>
            <a:endParaRPr lang="en-US" sz="1500" dirty="0"/>
          </a:p>
        </p:txBody>
      </p:sp>
      <p:sp>
        <p:nvSpPr>
          <p:cNvPr id="22" name="Shape 20"/>
          <p:cNvSpPr/>
          <p:nvPr/>
        </p:nvSpPr>
        <p:spPr>
          <a:xfrm>
            <a:off x="548640" y="5029200"/>
            <a:ext cx="11064240" cy="1188720"/>
          </a:xfrm>
          <a:prstGeom prst="roundRect">
            <a:avLst>
              <a:gd name="adj" fmla="val 9231"/>
            </a:avLst>
          </a:prstGeom>
          <a:solidFill>
            <a:srgbClr val="EEF2F8"/>
          </a:solidFill>
          <a:ln w="12700">
            <a:solidFill>
              <a:srgbClr val="EEF2F8"/>
            </a:solidFill>
            <a:prstDash val="solid"/>
          </a:ln>
        </p:spPr>
        <p:txBody>
          <a:bodyPr/>
          <a:lstStyle/>
          <a:p>
            <a:endParaRPr lang="en-BB"/>
          </a:p>
        </p:txBody>
      </p:sp>
      <p:sp>
        <p:nvSpPr>
          <p:cNvPr id="23" name="Shape 21"/>
          <p:cNvSpPr/>
          <p:nvPr/>
        </p:nvSpPr>
        <p:spPr>
          <a:xfrm>
            <a:off x="822960" y="5303520"/>
            <a:ext cx="640080" cy="640080"/>
          </a:xfrm>
          <a:prstGeom prst="ellipse">
            <a:avLst/>
          </a:prstGeom>
          <a:solidFill>
            <a:srgbClr val="F4A261"/>
          </a:solidFill>
          <a:ln w="12700">
            <a:solidFill>
              <a:srgbClr val="F4A261"/>
            </a:solidFill>
            <a:prstDash val="solid"/>
          </a:ln>
        </p:spPr>
        <p:txBody>
          <a:bodyPr/>
          <a:lstStyle/>
          <a:p>
            <a:endParaRPr lang="en-BB"/>
          </a:p>
        </p:txBody>
      </p:sp>
      <p:pic>
        <p:nvPicPr>
          <p:cNvPr id="24" name="Image 0" descr="preencoded.png"/>
          <p:cNvPicPr>
            <a:picLocks noChangeAspect="1"/>
          </p:cNvPicPr>
          <p:nvPr/>
        </p:nvPicPr>
        <p:blipFill>
          <a:blip r:embed="rId3"/>
          <a:stretch>
            <a:fillRect/>
          </a:stretch>
        </p:blipFill>
        <p:spPr>
          <a:xfrm>
            <a:off x="982980" y="5463540"/>
            <a:ext cx="320040" cy="320040"/>
          </a:xfrm>
          <a:prstGeom prst="rect">
            <a:avLst/>
          </a:prstGeom>
        </p:spPr>
      </p:pic>
      <p:sp>
        <p:nvSpPr>
          <p:cNvPr id="25" name="Text 22"/>
          <p:cNvSpPr txBox="1"/>
          <p:nvPr/>
        </p:nvSpPr>
        <p:spPr>
          <a:xfrm>
            <a:off x="1691640" y="5029200"/>
            <a:ext cx="9692640" cy="118872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Deliberate exception: </a:t>
            </a:r>
            <a:r>
              <a:rPr lang="en-US" sz="1600" dirty="0">
                <a:solidFill>
                  <a:srgbClr val="1B2A49"/>
                </a:solidFill>
                <a:latin typeface="Calibri" pitchFamily="34" charset="0"/>
                <a:ea typeface="Calibri" pitchFamily="34" charset="-122"/>
                <a:cs typeface="Calibri" pitchFamily="34" charset="-120"/>
              </a:rPr>
              <a:t>SubTotal and TotalAmount are derived values. They are stored on purpose for faster reporting and to preserve the billed figure, and they are drawn as dashed ovals in the ER diagram.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Physical design and SQL queries</a:t>
            </a:r>
            <a:endParaRPr lang="en-US" sz="3400" dirty="0"/>
          </a:p>
        </p:txBody>
      </p:sp>
      <p:sp>
        <p:nvSpPr>
          <p:cNvPr id="4" name="Text 2"/>
          <p:cNvSpPr txBox="1"/>
          <p:nvPr/>
        </p:nvSpPr>
        <p:spPr>
          <a:xfrm>
            <a:off x="777240" y="1417320"/>
            <a:ext cx="5120640" cy="3108960"/>
          </a:xfrm>
          <a:prstGeom prst="rect">
            <a:avLst/>
          </a:prstGeom>
          <a:noFill/>
          <a:ln/>
        </p:spPr>
        <p:txBody>
          <a:bodyPr wrap="square" lIns="0" tIns="0" rIns="0" bIns="0" rtlCol="0" anchor="t"/>
          <a:lstStyle/>
          <a:p>
            <a:pPr marL="0" indent="0">
              <a:buNone/>
            </a:pPr>
            <a:r>
              <a:rPr lang="en-US" sz="1200" dirty="0">
                <a:solidFill>
                  <a:srgbClr val="E6EDF7"/>
                </a:solidFill>
                <a:latin typeface="Courier New" pitchFamily="34" charset="0"/>
                <a:ea typeface="Courier New" pitchFamily="34" charset="-122"/>
                <a:cs typeface="Courier New" pitchFamily="34" charset="-120"/>
              </a:rPr>
              <a:t>CREATE TABLE PRODUCT (</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ProductID    INT PRIMARY KEY,</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SupplierID   INT NOT NULL,</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ProductName  VARCHAR(100) NOT NULL,</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ProductType  VARCHAR(50),</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a:t>
            </a:r>
            <a:r>
              <a:rPr lang="en-US" sz="1200" dirty="0" err="1">
                <a:solidFill>
                  <a:srgbClr val="E6EDF7"/>
                </a:solidFill>
                <a:latin typeface="Courier New" pitchFamily="34" charset="0"/>
                <a:ea typeface="Courier New" pitchFamily="34" charset="-122"/>
                <a:cs typeface="Courier New" pitchFamily="34" charset="-120"/>
              </a:rPr>
              <a:t>UnitPric</a:t>
            </a:r>
            <a:r>
              <a:rPr lang="en-US" sz="1200" dirty="0">
                <a:solidFill>
                  <a:srgbClr val="E6EDF7"/>
                </a:solidFill>
                <a:latin typeface="Courier New" pitchFamily="34" charset="0"/>
                <a:ea typeface="Courier New" pitchFamily="34" charset="-122"/>
                <a:cs typeface="Courier New" pitchFamily="34" charset="-120"/>
              </a:rPr>
              <a:t>    DECIMAL(10,2),</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Color        VARCHAR(30),</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Size         VARCHAR(30),</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CONSTRAINT FK_Product_Supplier</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FOREIGN KEY (SupplierID)</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REFERENCES SUPPLIER(SupplierID),</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CONSTRAINT CK_Product_UnitPrice</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        CHECK (UnitPrice &gt;= 0)</a:t>
            </a:r>
            <a:endParaRPr lang="en-US" sz="1200" dirty="0"/>
          </a:p>
          <a:p>
            <a:pPr marL="0" indent="0">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5" name="Shape 3"/>
          <p:cNvSpPr/>
          <p:nvPr/>
        </p:nvSpPr>
        <p:spPr>
          <a:xfrm>
            <a:off x="548640" y="4846320"/>
            <a:ext cx="1737360" cy="1463040"/>
          </a:xfrm>
          <a:prstGeom prst="roundRect">
            <a:avLst>
              <a:gd name="adj" fmla="val 7500"/>
            </a:avLst>
          </a:prstGeom>
          <a:solidFill>
            <a:srgbClr val="EEF2F8"/>
          </a:solidFill>
          <a:ln w="12700">
            <a:solidFill>
              <a:srgbClr val="EEF2F8"/>
            </a:solidFill>
            <a:prstDash val="solid"/>
          </a:ln>
        </p:spPr>
        <p:txBody>
          <a:bodyPr/>
          <a:lstStyle/>
          <a:p>
            <a:endParaRPr lang="en-BB"/>
          </a:p>
        </p:txBody>
      </p:sp>
      <p:sp>
        <p:nvSpPr>
          <p:cNvPr id="6" name="Text 4"/>
          <p:cNvSpPr txBox="1"/>
          <p:nvPr/>
        </p:nvSpPr>
        <p:spPr>
          <a:xfrm>
            <a:off x="548640" y="4937760"/>
            <a:ext cx="1737360" cy="731520"/>
          </a:xfrm>
          <a:prstGeom prst="rect">
            <a:avLst/>
          </a:prstGeom>
          <a:noFill/>
          <a:ln/>
        </p:spPr>
        <p:txBody>
          <a:bodyPr wrap="square" lIns="0" tIns="0" rIns="0" bIns="0" rtlCol="0" anchor="ctr"/>
          <a:lstStyle/>
          <a:p>
            <a:pPr marL="0" indent="0" algn="ctr">
              <a:buNone/>
            </a:pPr>
            <a:r>
              <a:rPr lang="en-US" sz="3800" b="1" dirty="0">
                <a:solidFill>
                  <a:srgbClr val="2A9D8F"/>
                </a:solidFill>
                <a:latin typeface="Cambria" pitchFamily="34" charset="0"/>
                <a:ea typeface="Cambria" pitchFamily="34" charset="-122"/>
                <a:cs typeface="Cambria" pitchFamily="34" charset="-120"/>
              </a:rPr>
              <a:t>9</a:t>
            </a:r>
            <a:endParaRPr lang="en-US" sz="3800" dirty="0"/>
          </a:p>
        </p:txBody>
      </p:sp>
      <p:sp>
        <p:nvSpPr>
          <p:cNvPr id="7" name="Text 5"/>
          <p:cNvSpPr txBox="1"/>
          <p:nvPr/>
        </p:nvSpPr>
        <p:spPr>
          <a:xfrm>
            <a:off x="640080" y="5715000"/>
            <a:ext cx="1554480" cy="457200"/>
          </a:xfrm>
          <a:prstGeom prst="rect">
            <a:avLst/>
          </a:prstGeom>
          <a:noFill/>
          <a:ln/>
        </p:spPr>
        <p:txBody>
          <a:bodyPr wrap="square" lIns="0" tIns="0" rIns="0" bIns="0" rtlCol="0" anchor="t"/>
          <a:lstStyle/>
          <a:p>
            <a:pPr marL="0" indent="0" algn="ctr">
              <a:buNone/>
            </a:pPr>
            <a:r>
              <a:rPr lang="en-US" sz="1300" dirty="0">
                <a:solidFill>
                  <a:srgbClr val="1B2A49"/>
                </a:solidFill>
                <a:latin typeface="Calibri" pitchFamily="34" charset="0"/>
                <a:ea typeface="Calibri" pitchFamily="34" charset="-122"/>
                <a:cs typeface="Calibri" pitchFamily="34" charset="-120"/>
              </a:rPr>
              <a:t>tables</a:t>
            </a:r>
            <a:endParaRPr lang="en-US" sz="1300" dirty="0"/>
          </a:p>
        </p:txBody>
      </p:sp>
      <p:sp>
        <p:nvSpPr>
          <p:cNvPr id="8" name="Shape 6"/>
          <p:cNvSpPr/>
          <p:nvPr/>
        </p:nvSpPr>
        <p:spPr>
          <a:xfrm>
            <a:off x="2423160" y="4846320"/>
            <a:ext cx="1737360" cy="1463040"/>
          </a:xfrm>
          <a:prstGeom prst="roundRect">
            <a:avLst>
              <a:gd name="adj" fmla="val 7500"/>
            </a:avLst>
          </a:prstGeom>
          <a:solidFill>
            <a:srgbClr val="EEF2F8"/>
          </a:solidFill>
          <a:ln w="12700">
            <a:solidFill>
              <a:srgbClr val="EEF2F8"/>
            </a:solidFill>
            <a:prstDash val="solid"/>
          </a:ln>
        </p:spPr>
        <p:txBody>
          <a:bodyPr/>
          <a:lstStyle/>
          <a:p>
            <a:endParaRPr lang="en-BB"/>
          </a:p>
        </p:txBody>
      </p:sp>
      <p:sp>
        <p:nvSpPr>
          <p:cNvPr id="9" name="Text 7"/>
          <p:cNvSpPr txBox="1"/>
          <p:nvPr/>
        </p:nvSpPr>
        <p:spPr>
          <a:xfrm>
            <a:off x="2423160" y="4937760"/>
            <a:ext cx="1737360" cy="731520"/>
          </a:xfrm>
          <a:prstGeom prst="rect">
            <a:avLst/>
          </a:prstGeom>
          <a:noFill/>
          <a:ln/>
        </p:spPr>
        <p:txBody>
          <a:bodyPr wrap="square" lIns="0" tIns="0" rIns="0" bIns="0" rtlCol="0" anchor="ctr"/>
          <a:lstStyle/>
          <a:p>
            <a:pPr marL="0" indent="0" algn="ctr">
              <a:buNone/>
            </a:pPr>
            <a:r>
              <a:rPr lang="en-US" sz="3800" b="1" dirty="0">
                <a:solidFill>
                  <a:srgbClr val="2A9D8F"/>
                </a:solidFill>
                <a:latin typeface="Cambria" pitchFamily="34" charset="0"/>
                <a:ea typeface="Cambria" pitchFamily="34" charset="-122"/>
                <a:cs typeface="Cambria" pitchFamily="34" charset="-120"/>
              </a:rPr>
              <a:t>10</a:t>
            </a:r>
            <a:endParaRPr lang="en-US" sz="3800" dirty="0"/>
          </a:p>
        </p:txBody>
      </p:sp>
      <p:sp>
        <p:nvSpPr>
          <p:cNvPr id="10" name="Text 8"/>
          <p:cNvSpPr txBox="1"/>
          <p:nvPr/>
        </p:nvSpPr>
        <p:spPr>
          <a:xfrm>
            <a:off x="2514600" y="5715000"/>
            <a:ext cx="1554480" cy="457200"/>
          </a:xfrm>
          <a:prstGeom prst="rect">
            <a:avLst/>
          </a:prstGeom>
          <a:noFill/>
          <a:ln/>
        </p:spPr>
        <p:txBody>
          <a:bodyPr wrap="square" lIns="0" tIns="0" rIns="0" bIns="0" rtlCol="0" anchor="t"/>
          <a:lstStyle/>
          <a:p>
            <a:pPr marL="0" indent="0" algn="ctr">
              <a:buNone/>
            </a:pPr>
            <a:r>
              <a:rPr lang="en-US" sz="1300" dirty="0">
                <a:solidFill>
                  <a:srgbClr val="1B2A49"/>
                </a:solidFill>
                <a:latin typeface="Calibri" pitchFamily="34" charset="0"/>
                <a:ea typeface="Calibri" pitchFamily="34" charset="-122"/>
                <a:cs typeface="Calibri" pitchFamily="34" charset="-120"/>
              </a:rPr>
              <a:t>records per table</a:t>
            </a:r>
            <a:endParaRPr lang="en-US" sz="1300" dirty="0"/>
          </a:p>
        </p:txBody>
      </p:sp>
      <p:sp>
        <p:nvSpPr>
          <p:cNvPr id="11" name="Shape 9"/>
          <p:cNvSpPr/>
          <p:nvPr/>
        </p:nvSpPr>
        <p:spPr>
          <a:xfrm>
            <a:off x="4297680" y="4846320"/>
            <a:ext cx="1737360" cy="1463040"/>
          </a:xfrm>
          <a:prstGeom prst="roundRect">
            <a:avLst>
              <a:gd name="adj" fmla="val 7500"/>
            </a:avLst>
          </a:prstGeom>
          <a:solidFill>
            <a:srgbClr val="EEF2F8"/>
          </a:solidFill>
          <a:ln w="12700">
            <a:solidFill>
              <a:srgbClr val="EEF2F8"/>
            </a:solidFill>
            <a:prstDash val="solid"/>
          </a:ln>
        </p:spPr>
        <p:txBody>
          <a:bodyPr/>
          <a:lstStyle/>
          <a:p>
            <a:endParaRPr lang="en-BB"/>
          </a:p>
        </p:txBody>
      </p:sp>
      <p:sp>
        <p:nvSpPr>
          <p:cNvPr id="12" name="Text 10"/>
          <p:cNvSpPr txBox="1"/>
          <p:nvPr/>
        </p:nvSpPr>
        <p:spPr>
          <a:xfrm>
            <a:off x="4297680" y="4937760"/>
            <a:ext cx="1737360" cy="731520"/>
          </a:xfrm>
          <a:prstGeom prst="rect">
            <a:avLst/>
          </a:prstGeom>
          <a:noFill/>
          <a:ln/>
        </p:spPr>
        <p:txBody>
          <a:bodyPr wrap="square" lIns="0" tIns="0" rIns="0" bIns="0" rtlCol="0" anchor="ctr"/>
          <a:lstStyle/>
          <a:p>
            <a:pPr marL="0" indent="0" algn="ctr">
              <a:buNone/>
            </a:pPr>
            <a:r>
              <a:rPr lang="en-US" sz="3800" b="1" dirty="0">
                <a:solidFill>
                  <a:srgbClr val="2A9D8F"/>
                </a:solidFill>
                <a:latin typeface="Cambria" pitchFamily="34" charset="0"/>
                <a:ea typeface="Cambria" pitchFamily="34" charset="-122"/>
                <a:cs typeface="Cambria" pitchFamily="34" charset="-120"/>
              </a:rPr>
              <a:t>3</a:t>
            </a:r>
            <a:endParaRPr lang="en-US" sz="3800" dirty="0"/>
          </a:p>
        </p:txBody>
      </p:sp>
      <p:sp>
        <p:nvSpPr>
          <p:cNvPr id="13" name="Text 11"/>
          <p:cNvSpPr txBox="1"/>
          <p:nvPr/>
        </p:nvSpPr>
        <p:spPr>
          <a:xfrm>
            <a:off x="4389120" y="5715000"/>
            <a:ext cx="1554480" cy="457200"/>
          </a:xfrm>
          <a:prstGeom prst="rect">
            <a:avLst/>
          </a:prstGeom>
          <a:noFill/>
          <a:ln/>
        </p:spPr>
        <p:txBody>
          <a:bodyPr wrap="square" lIns="0" tIns="0" rIns="0" bIns="0" rtlCol="0" anchor="t"/>
          <a:lstStyle/>
          <a:p>
            <a:pPr marL="0" indent="0" algn="ctr">
              <a:buNone/>
            </a:pPr>
            <a:r>
              <a:rPr lang="en-US" sz="1300" dirty="0">
                <a:solidFill>
                  <a:srgbClr val="1B2A49"/>
                </a:solidFill>
                <a:latin typeface="Calibri" pitchFamily="34" charset="0"/>
                <a:ea typeface="Calibri" pitchFamily="34" charset="-122"/>
                <a:cs typeface="Calibri" pitchFamily="34" charset="-120"/>
              </a:rPr>
              <a:t>constraint types</a:t>
            </a:r>
            <a:endParaRPr lang="en-US" sz="1300" dirty="0"/>
          </a:p>
        </p:txBody>
      </p:sp>
      <p:sp>
        <p:nvSpPr>
          <p:cNvPr id="14" name="Shape 12"/>
          <p:cNvSpPr/>
          <p:nvPr/>
        </p:nvSpPr>
        <p:spPr>
          <a:xfrm>
            <a:off x="6355080" y="1280160"/>
            <a:ext cx="5257800" cy="1554480"/>
          </a:xfrm>
          <a:prstGeom prst="roundRect">
            <a:avLst>
              <a:gd name="adj" fmla="val 7059"/>
            </a:avLst>
          </a:prstGeom>
          <a:solidFill>
            <a:srgbClr val="EEF2F8"/>
          </a:solidFill>
          <a:ln w="12700">
            <a:solidFill>
              <a:srgbClr val="EEF2F8"/>
            </a:solidFill>
            <a:prstDash val="solid"/>
          </a:ln>
        </p:spPr>
        <p:txBody>
          <a:bodyPr/>
          <a:lstStyle/>
          <a:p>
            <a:endParaRPr lang="en-BB"/>
          </a:p>
        </p:txBody>
      </p:sp>
      <p:sp>
        <p:nvSpPr>
          <p:cNvPr id="15" name="Text 13"/>
          <p:cNvSpPr txBox="1"/>
          <p:nvPr/>
        </p:nvSpPr>
        <p:spPr>
          <a:xfrm>
            <a:off x="6537960" y="1280160"/>
            <a:ext cx="914400" cy="1554480"/>
          </a:xfrm>
          <a:prstGeom prst="rect">
            <a:avLst/>
          </a:prstGeom>
          <a:noFill/>
          <a:ln/>
        </p:spPr>
        <p:txBody>
          <a:bodyPr wrap="square" lIns="0" tIns="0" rIns="0" bIns="0" rtlCol="0" anchor="ctr"/>
          <a:lstStyle/>
          <a:p>
            <a:pPr marL="0" indent="0">
              <a:buNone/>
            </a:pPr>
            <a:r>
              <a:rPr lang="en-US" sz="4800" b="1" dirty="0">
                <a:solidFill>
                  <a:srgbClr val="2A9D8F"/>
                </a:solidFill>
                <a:latin typeface="Cambria" pitchFamily="34" charset="0"/>
                <a:ea typeface="Cambria" pitchFamily="34" charset="-122"/>
                <a:cs typeface="Cambria" pitchFamily="34" charset="-120"/>
              </a:rPr>
              <a:t>5</a:t>
            </a:r>
            <a:endParaRPr lang="en-US" sz="4800" dirty="0"/>
          </a:p>
        </p:txBody>
      </p:sp>
      <p:sp>
        <p:nvSpPr>
          <p:cNvPr id="16" name="Text 14"/>
          <p:cNvSpPr txBox="1"/>
          <p:nvPr/>
        </p:nvSpPr>
        <p:spPr>
          <a:xfrm>
            <a:off x="7498080" y="1417320"/>
            <a:ext cx="3931920" cy="411480"/>
          </a:xfrm>
          <a:prstGeom prst="rect">
            <a:avLst/>
          </a:prstGeom>
          <a:noFill/>
          <a:ln/>
        </p:spPr>
        <p:txBody>
          <a:bodyPr wrap="square" lIns="0" tIns="0" rIns="0" bIns="0" rtlCol="0" anchor="ctr"/>
          <a:lstStyle/>
          <a:p>
            <a:pPr marL="0" indent="0">
              <a:buNone/>
            </a:pPr>
            <a:r>
              <a:rPr lang="en-US" sz="1800" b="1" dirty="0">
                <a:solidFill>
                  <a:srgbClr val="1B2A49"/>
                </a:solidFill>
                <a:latin typeface="Cambria" pitchFamily="34" charset="0"/>
                <a:ea typeface="Cambria" pitchFamily="34" charset="-122"/>
                <a:cs typeface="Cambria" pitchFamily="34" charset="-120"/>
              </a:rPr>
              <a:t>Basic SELECT queries</a:t>
            </a:r>
            <a:endParaRPr lang="en-US" sz="1800" dirty="0"/>
          </a:p>
        </p:txBody>
      </p:sp>
      <p:sp>
        <p:nvSpPr>
          <p:cNvPr id="17" name="Text 15"/>
          <p:cNvSpPr txBox="1"/>
          <p:nvPr/>
        </p:nvSpPr>
        <p:spPr>
          <a:xfrm>
            <a:off x="7498080" y="1874520"/>
            <a:ext cx="3931920" cy="822960"/>
          </a:xfrm>
          <a:prstGeom prst="rect">
            <a:avLst/>
          </a:prstGeom>
          <a:noFill/>
          <a:ln/>
        </p:spPr>
        <p:txBody>
          <a:bodyPr wrap="square" lIns="0" tIns="0" rIns="0" bIns="0" rtlCol="0" anchor="t"/>
          <a:lstStyle/>
          <a:p>
            <a:pPr marL="0" indent="0">
              <a:buNone/>
            </a:pPr>
            <a:r>
              <a:rPr lang="en-US" sz="1350" dirty="0">
                <a:solidFill>
                  <a:srgbClr val="1B2A49"/>
                </a:solidFill>
                <a:latin typeface="Calibri" pitchFamily="34" charset="0"/>
                <a:ea typeface="Calibri" pitchFamily="34" charset="-122"/>
                <a:cs typeface="Calibri" pitchFamily="34" charset="-120"/>
              </a:rPr>
              <a:t>Customer list, fabric products, pending orders, warehouse capacity, unpaid invoices</a:t>
            </a:r>
            <a:endParaRPr lang="en-US" sz="1350" dirty="0"/>
          </a:p>
        </p:txBody>
      </p:sp>
      <p:sp>
        <p:nvSpPr>
          <p:cNvPr id="18" name="Shape 16"/>
          <p:cNvSpPr/>
          <p:nvPr/>
        </p:nvSpPr>
        <p:spPr>
          <a:xfrm>
            <a:off x="6355080" y="3017520"/>
            <a:ext cx="5257800" cy="1554480"/>
          </a:xfrm>
          <a:prstGeom prst="roundRect">
            <a:avLst>
              <a:gd name="adj" fmla="val 7059"/>
            </a:avLst>
          </a:prstGeom>
          <a:solidFill>
            <a:srgbClr val="EEF2F8"/>
          </a:solidFill>
          <a:ln w="12700">
            <a:solidFill>
              <a:srgbClr val="EEF2F8"/>
            </a:solidFill>
            <a:prstDash val="solid"/>
          </a:ln>
        </p:spPr>
        <p:txBody>
          <a:bodyPr/>
          <a:lstStyle/>
          <a:p>
            <a:endParaRPr lang="en-BB"/>
          </a:p>
        </p:txBody>
      </p:sp>
      <p:sp>
        <p:nvSpPr>
          <p:cNvPr id="19" name="Text 17"/>
          <p:cNvSpPr txBox="1"/>
          <p:nvPr/>
        </p:nvSpPr>
        <p:spPr>
          <a:xfrm>
            <a:off x="6537960" y="3017520"/>
            <a:ext cx="914400" cy="1554480"/>
          </a:xfrm>
          <a:prstGeom prst="rect">
            <a:avLst/>
          </a:prstGeom>
          <a:noFill/>
          <a:ln/>
        </p:spPr>
        <p:txBody>
          <a:bodyPr wrap="square" lIns="0" tIns="0" rIns="0" bIns="0" rtlCol="0" anchor="ctr"/>
          <a:lstStyle/>
          <a:p>
            <a:pPr marL="0" indent="0">
              <a:buNone/>
            </a:pPr>
            <a:r>
              <a:rPr lang="en-US" sz="4800" b="1" dirty="0">
                <a:solidFill>
                  <a:srgbClr val="2A9D8F"/>
                </a:solidFill>
                <a:latin typeface="Cambria" pitchFamily="34" charset="0"/>
                <a:ea typeface="Cambria" pitchFamily="34" charset="-122"/>
                <a:cs typeface="Cambria" pitchFamily="34" charset="-120"/>
              </a:rPr>
              <a:t>5</a:t>
            </a:r>
            <a:endParaRPr lang="en-US" sz="4800" dirty="0"/>
          </a:p>
        </p:txBody>
      </p:sp>
      <p:sp>
        <p:nvSpPr>
          <p:cNvPr id="20" name="Text 18"/>
          <p:cNvSpPr txBox="1"/>
          <p:nvPr/>
        </p:nvSpPr>
        <p:spPr>
          <a:xfrm>
            <a:off x="7498080" y="3154680"/>
            <a:ext cx="3931920" cy="411480"/>
          </a:xfrm>
          <a:prstGeom prst="rect">
            <a:avLst/>
          </a:prstGeom>
          <a:noFill/>
          <a:ln/>
        </p:spPr>
        <p:txBody>
          <a:bodyPr wrap="square" lIns="0" tIns="0" rIns="0" bIns="0" rtlCol="0" anchor="ctr"/>
          <a:lstStyle/>
          <a:p>
            <a:pPr marL="0" indent="0">
              <a:buNone/>
            </a:pPr>
            <a:r>
              <a:rPr lang="en-US" sz="1800" b="1" dirty="0">
                <a:solidFill>
                  <a:srgbClr val="1B2A49"/>
                </a:solidFill>
                <a:latin typeface="Cambria" pitchFamily="34" charset="0"/>
                <a:ea typeface="Cambria" pitchFamily="34" charset="-122"/>
                <a:cs typeface="Cambria" pitchFamily="34" charset="-120"/>
              </a:rPr>
              <a:t>Advanced queries</a:t>
            </a:r>
            <a:endParaRPr lang="en-US" sz="1800" dirty="0"/>
          </a:p>
        </p:txBody>
      </p:sp>
      <p:sp>
        <p:nvSpPr>
          <p:cNvPr id="21" name="Text 19"/>
          <p:cNvSpPr txBox="1"/>
          <p:nvPr/>
        </p:nvSpPr>
        <p:spPr>
          <a:xfrm>
            <a:off x="7498080" y="3611880"/>
            <a:ext cx="3931920" cy="822960"/>
          </a:xfrm>
          <a:prstGeom prst="rect">
            <a:avLst/>
          </a:prstGeom>
          <a:noFill/>
          <a:ln/>
        </p:spPr>
        <p:txBody>
          <a:bodyPr wrap="square" lIns="0" tIns="0" rIns="0" bIns="0" rtlCol="0" anchor="t"/>
          <a:lstStyle/>
          <a:p>
            <a:pPr marL="0" indent="0">
              <a:buNone/>
            </a:pPr>
            <a:r>
              <a:rPr lang="en-US" sz="1350" dirty="0">
                <a:solidFill>
                  <a:srgbClr val="1B2A49"/>
                </a:solidFill>
                <a:latin typeface="Calibri" pitchFamily="34" charset="0"/>
                <a:ea typeface="Calibri" pitchFamily="34" charset="-122"/>
                <a:cs typeface="Calibri" pitchFamily="34" charset="-120"/>
              </a:rPr>
              <a:t>GROUP BY, HAVING and ORDER BY: high-value customers, average price by type, stock per warehouse, units sold</a:t>
            </a:r>
            <a:endParaRPr lang="en-US" sz="1350" dirty="0"/>
          </a:p>
        </p:txBody>
      </p:sp>
      <p:sp>
        <p:nvSpPr>
          <p:cNvPr id="22" name="Shape 20"/>
          <p:cNvSpPr/>
          <p:nvPr/>
        </p:nvSpPr>
        <p:spPr>
          <a:xfrm>
            <a:off x="6355080" y="4754880"/>
            <a:ext cx="5257800" cy="1554480"/>
          </a:xfrm>
          <a:prstGeom prst="roundRect">
            <a:avLst>
              <a:gd name="adj" fmla="val 7059"/>
            </a:avLst>
          </a:prstGeom>
          <a:solidFill>
            <a:srgbClr val="EEF2F8"/>
          </a:solidFill>
          <a:ln w="12700">
            <a:solidFill>
              <a:srgbClr val="EEF2F8"/>
            </a:solidFill>
            <a:prstDash val="solid"/>
          </a:ln>
        </p:spPr>
        <p:txBody>
          <a:bodyPr/>
          <a:lstStyle/>
          <a:p>
            <a:endParaRPr lang="en-BB"/>
          </a:p>
        </p:txBody>
      </p:sp>
      <p:sp>
        <p:nvSpPr>
          <p:cNvPr id="23" name="Text 21"/>
          <p:cNvSpPr txBox="1"/>
          <p:nvPr/>
        </p:nvSpPr>
        <p:spPr>
          <a:xfrm>
            <a:off x="6537960" y="4754880"/>
            <a:ext cx="914400" cy="1554480"/>
          </a:xfrm>
          <a:prstGeom prst="rect">
            <a:avLst/>
          </a:prstGeom>
          <a:noFill/>
          <a:ln/>
        </p:spPr>
        <p:txBody>
          <a:bodyPr wrap="square" lIns="0" tIns="0" rIns="0" bIns="0" rtlCol="0" anchor="ctr"/>
          <a:lstStyle/>
          <a:p>
            <a:pPr marL="0" indent="0">
              <a:buNone/>
            </a:pPr>
            <a:r>
              <a:rPr lang="en-US" sz="4800" b="1" dirty="0">
                <a:solidFill>
                  <a:srgbClr val="2A9D8F"/>
                </a:solidFill>
                <a:latin typeface="Cambria" pitchFamily="34" charset="0"/>
                <a:ea typeface="Cambria" pitchFamily="34" charset="-122"/>
                <a:cs typeface="Cambria" pitchFamily="34" charset="-120"/>
              </a:rPr>
              <a:t>3</a:t>
            </a:r>
            <a:endParaRPr lang="en-US" sz="4800" dirty="0"/>
          </a:p>
        </p:txBody>
      </p:sp>
      <p:sp>
        <p:nvSpPr>
          <p:cNvPr id="24" name="Text 22"/>
          <p:cNvSpPr txBox="1"/>
          <p:nvPr/>
        </p:nvSpPr>
        <p:spPr>
          <a:xfrm>
            <a:off x="7498080" y="4892040"/>
            <a:ext cx="3931920" cy="411480"/>
          </a:xfrm>
          <a:prstGeom prst="rect">
            <a:avLst/>
          </a:prstGeom>
          <a:noFill/>
          <a:ln/>
        </p:spPr>
        <p:txBody>
          <a:bodyPr wrap="square" lIns="0" tIns="0" rIns="0" bIns="0" rtlCol="0" anchor="ctr"/>
          <a:lstStyle/>
          <a:p>
            <a:pPr marL="0" indent="0">
              <a:buNone/>
            </a:pPr>
            <a:r>
              <a:rPr lang="en-US" sz="1800" b="1" dirty="0">
                <a:solidFill>
                  <a:srgbClr val="1B2A49"/>
                </a:solidFill>
                <a:latin typeface="Cambria" pitchFamily="34" charset="0"/>
                <a:ea typeface="Cambria" pitchFamily="34" charset="-122"/>
                <a:cs typeface="Cambria" pitchFamily="34" charset="-120"/>
              </a:rPr>
              <a:t>JOIN queries</a:t>
            </a:r>
            <a:endParaRPr lang="en-US" sz="1800" dirty="0"/>
          </a:p>
        </p:txBody>
      </p:sp>
      <p:sp>
        <p:nvSpPr>
          <p:cNvPr id="25" name="Text 23"/>
          <p:cNvSpPr txBox="1"/>
          <p:nvPr/>
        </p:nvSpPr>
        <p:spPr>
          <a:xfrm>
            <a:off x="7498080" y="5349240"/>
            <a:ext cx="3931920" cy="822960"/>
          </a:xfrm>
          <a:prstGeom prst="rect">
            <a:avLst/>
          </a:prstGeom>
          <a:noFill/>
          <a:ln/>
        </p:spPr>
        <p:txBody>
          <a:bodyPr wrap="square" lIns="0" tIns="0" rIns="0" bIns="0" rtlCol="0" anchor="t"/>
          <a:lstStyle/>
          <a:p>
            <a:pPr marL="0" indent="0">
              <a:buNone/>
            </a:pPr>
            <a:r>
              <a:rPr lang="en-US" sz="1350" dirty="0">
                <a:solidFill>
                  <a:srgbClr val="1B2A49"/>
                </a:solidFill>
                <a:latin typeface="Calibri" pitchFamily="34" charset="0"/>
                <a:ea typeface="Calibri" pitchFamily="34" charset="-122"/>
                <a:cs typeface="Calibri" pitchFamily="34" charset="-120"/>
              </a:rPr>
              <a:t>Several tables joined: stock by warehouse, customer orders with items, invoice and payment status</a:t>
            </a:r>
            <a:endParaRPr lang="en-US" sz="1350" dirty="0"/>
          </a:p>
        </p:txBody>
      </p:sp>
      <p:pic>
        <p:nvPicPr>
          <p:cNvPr id="29" name="Picture 28">
            <a:extLst>
              <a:ext uri="{FF2B5EF4-FFF2-40B4-BE49-F238E27FC236}">
                <a16:creationId xmlns:a16="http://schemas.microsoft.com/office/drawing/2014/main" id="{C2A0A752-8AF7-3096-2AA6-D6221B9E8A6C}"/>
              </a:ext>
            </a:extLst>
          </p:cNvPr>
          <p:cNvPicPr>
            <a:picLocks noChangeAspect="1"/>
          </p:cNvPicPr>
          <p:nvPr/>
        </p:nvPicPr>
        <p:blipFill>
          <a:blip r:embed="rId3"/>
          <a:stretch>
            <a:fillRect/>
          </a:stretch>
        </p:blipFill>
        <p:spPr>
          <a:xfrm>
            <a:off x="313081" y="1908657"/>
            <a:ext cx="5859119" cy="20041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Database security: least privilege</a:t>
            </a:r>
            <a:endParaRPr lang="en-US" sz="3400" dirty="0"/>
          </a:p>
        </p:txBody>
      </p:sp>
      <p:sp>
        <p:nvSpPr>
          <p:cNvPr id="3" name="Shape 1"/>
          <p:cNvSpPr/>
          <p:nvPr/>
        </p:nvSpPr>
        <p:spPr>
          <a:xfrm>
            <a:off x="548640" y="1371600"/>
            <a:ext cx="5394960" cy="3566160"/>
          </a:xfrm>
          <a:prstGeom prst="roundRect">
            <a:avLst>
              <a:gd name="adj" fmla="val 3077"/>
            </a:avLst>
          </a:prstGeom>
          <a:solidFill>
            <a:srgbClr val="1B2A49"/>
          </a:solidFill>
          <a:ln w="12700">
            <a:solidFill>
              <a:srgbClr val="1B2A49"/>
            </a:solidFill>
            <a:prstDash val="solid"/>
          </a:ln>
        </p:spPr>
        <p:txBody>
          <a:bodyPr/>
          <a:lstStyle/>
          <a:p>
            <a:endParaRPr lang="en-BB"/>
          </a:p>
        </p:txBody>
      </p:sp>
      <p:sp>
        <p:nvSpPr>
          <p:cNvPr id="4" name="Shape 2"/>
          <p:cNvSpPr/>
          <p:nvPr/>
        </p:nvSpPr>
        <p:spPr>
          <a:xfrm>
            <a:off x="822960" y="1600200"/>
            <a:ext cx="731520" cy="731520"/>
          </a:xfrm>
          <a:prstGeom prst="ellipse">
            <a:avLst/>
          </a:prstGeom>
          <a:solidFill>
            <a:srgbClr val="F4A261"/>
          </a:solidFill>
          <a:ln w="12700">
            <a:solidFill>
              <a:srgbClr val="F4A261"/>
            </a:solidFill>
            <a:prstDash val="solid"/>
          </a:ln>
        </p:spPr>
        <p:txBody>
          <a:bodyPr/>
          <a:lstStyle/>
          <a:p>
            <a:endParaRPr lang="en-BB"/>
          </a:p>
        </p:txBody>
      </p:sp>
      <p:pic>
        <p:nvPicPr>
          <p:cNvPr id="5" name="Image 0" descr="preencoded.png"/>
          <p:cNvPicPr>
            <a:picLocks noChangeAspect="1"/>
          </p:cNvPicPr>
          <p:nvPr/>
        </p:nvPicPr>
        <p:blipFill>
          <a:blip r:embed="rId3"/>
          <a:stretch>
            <a:fillRect/>
          </a:stretch>
        </p:blipFill>
        <p:spPr>
          <a:xfrm>
            <a:off x="1005840" y="1783080"/>
            <a:ext cx="365760" cy="365760"/>
          </a:xfrm>
          <a:prstGeom prst="rect">
            <a:avLst/>
          </a:prstGeom>
        </p:spPr>
      </p:pic>
      <p:sp>
        <p:nvSpPr>
          <p:cNvPr id="6" name="Text 3"/>
          <p:cNvSpPr txBox="1"/>
          <p:nvPr/>
        </p:nvSpPr>
        <p:spPr>
          <a:xfrm>
            <a:off x="1737360" y="1600200"/>
            <a:ext cx="4023360"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Manager</a:t>
            </a:r>
            <a:endParaRPr lang="en-US" sz="2600" dirty="0"/>
          </a:p>
        </p:txBody>
      </p:sp>
      <p:sp>
        <p:nvSpPr>
          <p:cNvPr id="7" name="Text 4"/>
          <p:cNvSpPr txBox="1"/>
          <p:nvPr/>
        </p:nvSpPr>
        <p:spPr>
          <a:xfrm>
            <a:off x="868680" y="2606040"/>
            <a:ext cx="4846320" cy="21031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SELECT, INSERT, UPDATE and DELETE on all 9 tables</a:t>
            </a:r>
            <a:endParaRPr lang="en-US" sz="1700" dirty="0"/>
          </a:p>
          <a:p>
            <a:pPr marL="342900" indent="-3429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The only user who may delete business records</a:t>
            </a:r>
            <a:endParaRPr lang="en-US" sz="1700" dirty="0"/>
          </a:p>
        </p:txBody>
      </p:sp>
      <p:sp>
        <p:nvSpPr>
          <p:cNvPr id="8" name="Shape 5"/>
          <p:cNvSpPr/>
          <p:nvPr/>
        </p:nvSpPr>
        <p:spPr>
          <a:xfrm>
            <a:off x="6217920" y="1371600"/>
            <a:ext cx="5394960" cy="3566160"/>
          </a:xfrm>
          <a:prstGeom prst="roundRect">
            <a:avLst>
              <a:gd name="adj" fmla="val 3077"/>
            </a:avLst>
          </a:prstGeom>
          <a:solidFill>
            <a:srgbClr val="E3F4F1"/>
          </a:solidFill>
          <a:ln w="12700">
            <a:solidFill>
              <a:srgbClr val="E3F4F1"/>
            </a:solidFill>
            <a:prstDash val="solid"/>
          </a:ln>
        </p:spPr>
        <p:txBody>
          <a:bodyPr/>
          <a:lstStyle/>
          <a:p>
            <a:endParaRPr lang="en-BB"/>
          </a:p>
        </p:txBody>
      </p:sp>
      <p:sp>
        <p:nvSpPr>
          <p:cNvPr id="9" name="Shape 6"/>
          <p:cNvSpPr/>
          <p:nvPr/>
        </p:nvSpPr>
        <p:spPr>
          <a:xfrm>
            <a:off x="6492240" y="1600200"/>
            <a:ext cx="731520" cy="731520"/>
          </a:xfrm>
          <a:prstGeom prst="ellipse">
            <a:avLst/>
          </a:prstGeom>
          <a:solidFill>
            <a:srgbClr val="2A9D8F"/>
          </a:solidFill>
          <a:ln w="12700">
            <a:solidFill>
              <a:srgbClr val="2A9D8F"/>
            </a:solidFill>
            <a:prstDash val="solid"/>
          </a:ln>
        </p:spPr>
        <p:txBody>
          <a:bodyPr/>
          <a:lstStyle/>
          <a:p>
            <a:endParaRPr lang="en-BB"/>
          </a:p>
        </p:txBody>
      </p:sp>
      <p:pic>
        <p:nvPicPr>
          <p:cNvPr id="10" name="Image 1" descr="preencoded.png"/>
          <p:cNvPicPr>
            <a:picLocks noChangeAspect="1"/>
          </p:cNvPicPr>
          <p:nvPr/>
        </p:nvPicPr>
        <p:blipFill>
          <a:blip r:embed="rId4"/>
          <a:stretch>
            <a:fillRect/>
          </a:stretch>
        </p:blipFill>
        <p:spPr>
          <a:xfrm>
            <a:off x="6675120" y="1783080"/>
            <a:ext cx="365760" cy="365760"/>
          </a:xfrm>
          <a:prstGeom prst="rect">
            <a:avLst/>
          </a:prstGeom>
        </p:spPr>
      </p:pic>
      <p:sp>
        <p:nvSpPr>
          <p:cNvPr id="11" name="Text 7"/>
          <p:cNvSpPr txBox="1"/>
          <p:nvPr/>
        </p:nvSpPr>
        <p:spPr>
          <a:xfrm>
            <a:off x="7406640" y="1600200"/>
            <a:ext cx="4023360" cy="73152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Clerk</a:t>
            </a:r>
            <a:endParaRPr lang="en-US" sz="2600" dirty="0"/>
          </a:p>
        </p:txBody>
      </p:sp>
      <p:sp>
        <p:nvSpPr>
          <p:cNvPr id="12" name="Text 8"/>
          <p:cNvSpPr txBox="1"/>
          <p:nvPr/>
        </p:nvSpPr>
        <p:spPr>
          <a:xfrm>
            <a:off x="6537960" y="2606040"/>
            <a:ext cx="484632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Read-only on PRODUCT, WAREHOUSE and SUPPLIER</a:t>
            </a:r>
            <a:endParaRPr lang="en-US" sz="1500" dirty="0"/>
          </a:p>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SELECT, INSERT and UPDATE on orders, invoices, payments and customers</a:t>
            </a:r>
            <a:endParaRPr lang="en-US" sz="1500" dirty="0"/>
          </a:p>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INVENTORY: SELECT and UPDATE only</a:t>
            </a:r>
            <a:endParaRPr lang="en-US" sz="1500" dirty="0"/>
          </a:p>
          <a:p>
            <a:pPr marL="342900" indent="-342900">
              <a:spcAft>
                <a:spcPts val="600"/>
              </a:spcAft>
              <a:buSzPct val="100000"/>
              <a:buChar char="•"/>
            </a:pPr>
            <a:r>
              <a:rPr lang="en-US" sz="1500" dirty="0">
                <a:solidFill>
                  <a:srgbClr val="1B2A49"/>
                </a:solidFill>
                <a:latin typeface="Calibri" pitchFamily="34" charset="0"/>
                <a:ea typeface="Calibri" pitchFamily="34" charset="-122"/>
                <a:cs typeface="Calibri" pitchFamily="34" charset="-120"/>
              </a:rPr>
              <a:t>DENY DELETE on CUSTOMER, SALES_ORDER, INVOICE and PAYMENT</a:t>
            </a:r>
            <a:endParaRPr lang="en-US" sz="1500" dirty="0"/>
          </a:p>
        </p:txBody>
      </p:sp>
      <p:sp>
        <p:nvSpPr>
          <p:cNvPr id="13" name="Shape 9"/>
          <p:cNvSpPr/>
          <p:nvPr/>
        </p:nvSpPr>
        <p:spPr>
          <a:xfrm>
            <a:off x="548640" y="5257800"/>
            <a:ext cx="11064240" cy="914400"/>
          </a:xfrm>
          <a:prstGeom prst="roundRect">
            <a:avLst>
              <a:gd name="adj" fmla="val 12000"/>
            </a:avLst>
          </a:prstGeom>
          <a:solidFill>
            <a:srgbClr val="FDF1E3"/>
          </a:solidFill>
          <a:ln w="12700">
            <a:solidFill>
              <a:srgbClr val="FDF1E3"/>
            </a:solidFill>
            <a:prstDash val="solid"/>
          </a:ln>
        </p:spPr>
        <p:txBody>
          <a:bodyPr/>
          <a:lstStyle/>
          <a:p>
            <a:endParaRPr lang="en-BB"/>
          </a:p>
        </p:txBody>
      </p:sp>
      <p:sp>
        <p:nvSpPr>
          <p:cNvPr id="14" name="Shape 10"/>
          <p:cNvSpPr/>
          <p:nvPr/>
        </p:nvSpPr>
        <p:spPr>
          <a:xfrm>
            <a:off x="822960" y="5394960"/>
            <a:ext cx="640080" cy="640080"/>
          </a:xfrm>
          <a:prstGeom prst="ellipse">
            <a:avLst/>
          </a:prstGeom>
          <a:solidFill>
            <a:srgbClr val="F4A261"/>
          </a:solidFill>
          <a:ln w="12700">
            <a:solidFill>
              <a:srgbClr val="F4A261"/>
            </a:solidFill>
            <a:prstDash val="solid"/>
          </a:ln>
        </p:spPr>
        <p:txBody>
          <a:bodyPr/>
          <a:lstStyle/>
          <a:p>
            <a:endParaRPr lang="en-BB"/>
          </a:p>
        </p:txBody>
      </p:sp>
      <p:pic>
        <p:nvPicPr>
          <p:cNvPr id="15" name="Image 2" descr="preencoded.png"/>
          <p:cNvPicPr>
            <a:picLocks noChangeAspect="1"/>
          </p:cNvPicPr>
          <p:nvPr/>
        </p:nvPicPr>
        <p:blipFill>
          <a:blip r:embed="rId5"/>
          <a:stretch>
            <a:fillRect/>
          </a:stretch>
        </p:blipFill>
        <p:spPr>
          <a:xfrm>
            <a:off x="978408" y="5550408"/>
            <a:ext cx="329184" cy="329184"/>
          </a:xfrm>
          <a:prstGeom prst="rect">
            <a:avLst/>
          </a:prstGeom>
        </p:spPr>
      </p:pic>
      <p:sp>
        <p:nvSpPr>
          <p:cNvPr id="16" name="Text 11"/>
          <p:cNvSpPr txBox="1"/>
          <p:nvPr/>
        </p:nvSpPr>
        <p:spPr>
          <a:xfrm>
            <a:off x="1691640" y="5257800"/>
            <a:ext cx="9692640" cy="914400"/>
          </a:xfrm>
          <a:prstGeom prst="rect">
            <a:avLst/>
          </a:prstGeom>
          <a:noFill/>
          <a:ln/>
        </p:spPr>
        <p:txBody>
          <a:bodyPr wrap="square" lIns="0" tIns="0" rIns="0" bIns="0" rtlCol="0" anchor="ctr"/>
          <a:lstStyle/>
          <a:p>
            <a:pPr marL="0" indent="0">
              <a:buNone/>
            </a:pPr>
            <a:r>
              <a:rPr lang="en-US" sz="1700" b="1" dirty="0">
                <a:solidFill>
                  <a:srgbClr val="1B2A49"/>
                </a:solidFill>
                <a:latin typeface="Calibri" pitchFamily="34" charset="0"/>
                <a:ea typeface="Calibri" pitchFamily="34" charset="-122"/>
                <a:cs typeface="Calibri" pitchFamily="34" charset="-120"/>
              </a:rPr>
              <a:t>In SQL Server a DENY always overrides a GRANT, so the Clerk can never delete these records.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Advantages of the system</a:t>
            </a:r>
            <a:endParaRPr lang="en-US" sz="3400" dirty="0"/>
          </a:p>
        </p:txBody>
      </p:sp>
      <p:sp>
        <p:nvSpPr>
          <p:cNvPr id="3" name="Shape 1"/>
          <p:cNvSpPr/>
          <p:nvPr/>
        </p:nvSpPr>
        <p:spPr>
          <a:xfrm>
            <a:off x="548640" y="1371600"/>
            <a:ext cx="3520440" cy="2286000"/>
          </a:xfrm>
          <a:prstGeom prst="roundRect">
            <a:avLst>
              <a:gd name="adj" fmla="val 4800"/>
            </a:avLst>
          </a:prstGeom>
          <a:solidFill>
            <a:srgbClr val="EEF2F8"/>
          </a:solidFill>
          <a:ln w="12700">
            <a:solidFill>
              <a:srgbClr val="EEF2F8"/>
            </a:solidFill>
            <a:prstDash val="solid"/>
          </a:ln>
        </p:spPr>
        <p:txBody>
          <a:bodyPr/>
          <a:lstStyle/>
          <a:p>
            <a:endParaRPr lang="en-BB"/>
          </a:p>
        </p:txBody>
      </p:sp>
      <p:sp>
        <p:nvSpPr>
          <p:cNvPr id="4" name="Shape 2"/>
          <p:cNvSpPr/>
          <p:nvPr/>
        </p:nvSpPr>
        <p:spPr>
          <a:xfrm>
            <a:off x="822960" y="1645920"/>
            <a:ext cx="731520" cy="731520"/>
          </a:xfrm>
          <a:prstGeom prst="ellipse">
            <a:avLst/>
          </a:prstGeom>
          <a:solidFill>
            <a:srgbClr val="2A9D8F"/>
          </a:solidFill>
          <a:ln w="12700">
            <a:solidFill>
              <a:srgbClr val="2A9D8F"/>
            </a:solidFill>
            <a:prstDash val="solid"/>
          </a:ln>
        </p:spPr>
        <p:txBody>
          <a:bodyPr/>
          <a:lstStyle/>
          <a:p>
            <a:endParaRPr lang="en-BB"/>
          </a:p>
        </p:txBody>
      </p:sp>
      <p:pic>
        <p:nvPicPr>
          <p:cNvPr id="5" name="Image 0" descr="preencoded.png"/>
          <p:cNvPicPr>
            <a:picLocks noChangeAspect="1"/>
          </p:cNvPicPr>
          <p:nvPr/>
        </p:nvPicPr>
        <p:blipFill>
          <a:blip r:embed="rId3"/>
          <a:stretch>
            <a:fillRect/>
          </a:stretch>
        </p:blipFill>
        <p:spPr>
          <a:xfrm>
            <a:off x="1005840" y="1828800"/>
            <a:ext cx="365760" cy="365760"/>
          </a:xfrm>
          <a:prstGeom prst="rect">
            <a:avLst/>
          </a:prstGeom>
        </p:spPr>
      </p:pic>
      <p:sp>
        <p:nvSpPr>
          <p:cNvPr id="6" name="Text 3"/>
          <p:cNvSpPr txBox="1"/>
          <p:nvPr/>
        </p:nvSpPr>
        <p:spPr>
          <a:xfrm>
            <a:off x="822960" y="2514600"/>
            <a:ext cx="3017520" cy="365760"/>
          </a:xfrm>
          <a:prstGeom prst="rect">
            <a:avLst/>
          </a:prstGeom>
          <a:noFill/>
          <a:ln/>
        </p:spPr>
        <p:txBody>
          <a:bodyPr wrap="square" lIns="0" tIns="0" rIns="0" bIns="0" rtlCol="0" anchor="ctr"/>
          <a:lstStyle/>
          <a:p>
            <a:pPr marL="0" indent="0">
              <a:buNone/>
            </a:pPr>
            <a:r>
              <a:rPr lang="en-US" sz="1900" b="1" dirty="0">
                <a:solidFill>
                  <a:srgbClr val="1B2A49"/>
                </a:solidFill>
                <a:latin typeface="Cambria" pitchFamily="34" charset="0"/>
                <a:ea typeface="Cambria" pitchFamily="34" charset="-122"/>
                <a:cs typeface="Cambria" pitchFamily="34" charset="-120"/>
              </a:rPr>
              <a:t>Single source of truth</a:t>
            </a:r>
            <a:endParaRPr lang="en-US" sz="1900" dirty="0"/>
          </a:p>
        </p:txBody>
      </p:sp>
      <p:sp>
        <p:nvSpPr>
          <p:cNvPr id="7" name="Text 4"/>
          <p:cNvSpPr txBox="1"/>
          <p:nvPr/>
        </p:nvSpPr>
        <p:spPr>
          <a:xfrm>
            <a:off x="822960" y="2926080"/>
            <a:ext cx="3017520" cy="640080"/>
          </a:xfrm>
          <a:prstGeom prst="rect">
            <a:avLst/>
          </a:prstGeom>
          <a:noFill/>
          <a:ln/>
        </p:spPr>
        <p:txBody>
          <a:bodyPr wrap="square" lIns="0" tIns="0" rIns="0" bIns="0" rtlCol="0" anchor="t"/>
          <a:lstStyle/>
          <a:p>
            <a:pPr marL="0" indent="0">
              <a:buNone/>
            </a:pPr>
            <a:r>
              <a:rPr lang="en-US" sz="1400" dirty="0">
                <a:solidFill>
                  <a:srgbClr val="5B6B84"/>
                </a:solidFill>
                <a:latin typeface="Calibri" pitchFamily="34" charset="0"/>
                <a:ea typeface="Calibri" pitchFamily="34" charset="-122"/>
                <a:cs typeface="Calibri" pitchFamily="34" charset="-120"/>
              </a:rPr>
              <a:t>Suppliers, stock, orders, invoices and payments live in one database.</a:t>
            </a:r>
            <a:endParaRPr lang="en-US" sz="1400" dirty="0"/>
          </a:p>
        </p:txBody>
      </p:sp>
      <p:sp>
        <p:nvSpPr>
          <p:cNvPr id="8" name="Shape 5"/>
          <p:cNvSpPr/>
          <p:nvPr/>
        </p:nvSpPr>
        <p:spPr>
          <a:xfrm>
            <a:off x="4320540" y="1371600"/>
            <a:ext cx="3520440" cy="2286000"/>
          </a:xfrm>
          <a:prstGeom prst="roundRect">
            <a:avLst>
              <a:gd name="adj" fmla="val 4800"/>
            </a:avLst>
          </a:prstGeom>
          <a:solidFill>
            <a:srgbClr val="EEF2F8"/>
          </a:solidFill>
          <a:ln w="12700">
            <a:solidFill>
              <a:srgbClr val="EEF2F8"/>
            </a:solidFill>
            <a:prstDash val="solid"/>
          </a:ln>
        </p:spPr>
        <p:txBody>
          <a:bodyPr/>
          <a:lstStyle/>
          <a:p>
            <a:endParaRPr lang="en-BB"/>
          </a:p>
        </p:txBody>
      </p:sp>
      <p:sp>
        <p:nvSpPr>
          <p:cNvPr id="9" name="Shape 6"/>
          <p:cNvSpPr/>
          <p:nvPr/>
        </p:nvSpPr>
        <p:spPr>
          <a:xfrm>
            <a:off x="4594860" y="1645920"/>
            <a:ext cx="731520" cy="731520"/>
          </a:xfrm>
          <a:prstGeom prst="ellipse">
            <a:avLst/>
          </a:prstGeom>
          <a:solidFill>
            <a:srgbClr val="2A9D8F"/>
          </a:solidFill>
          <a:ln w="12700">
            <a:solidFill>
              <a:srgbClr val="2A9D8F"/>
            </a:solidFill>
            <a:prstDash val="solid"/>
          </a:ln>
        </p:spPr>
        <p:txBody>
          <a:bodyPr/>
          <a:lstStyle/>
          <a:p>
            <a:endParaRPr lang="en-BB"/>
          </a:p>
        </p:txBody>
      </p:sp>
      <p:pic>
        <p:nvPicPr>
          <p:cNvPr id="10" name="Image 1" descr="preencoded.png"/>
          <p:cNvPicPr>
            <a:picLocks noChangeAspect="1"/>
          </p:cNvPicPr>
          <p:nvPr/>
        </p:nvPicPr>
        <p:blipFill>
          <a:blip r:embed="rId4"/>
          <a:stretch>
            <a:fillRect/>
          </a:stretch>
        </p:blipFill>
        <p:spPr>
          <a:xfrm>
            <a:off x="4777740" y="1828800"/>
            <a:ext cx="365760" cy="365760"/>
          </a:xfrm>
          <a:prstGeom prst="rect">
            <a:avLst/>
          </a:prstGeom>
        </p:spPr>
      </p:pic>
      <p:sp>
        <p:nvSpPr>
          <p:cNvPr id="11" name="Text 7"/>
          <p:cNvSpPr txBox="1"/>
          <p:nvPr/>
        </p:nvSpPr>
        <p:spPr>
          <a:xfrm>
            <a:off x="4594860" y="2514600"/>
            <a:ext cx="3017520" cy="365760"/>
          </a:xfrm>
          <a:prstGeom prst="rect">
            <a:avLst/>
          </a:prstGeom>
          <a:noFill/>
          <a:ln/>
        </p:spPr>
        <p:txBody>
          <a:bodyPr wrap="square" lIns="0" tIns="0" rIns="0" bIns="0" rtlCol="0" anchor="ctr"/>
          <a:lstStyle/>
          <a:p>
            <a:pPr marL="0" indent="0">
              <a:buNone/>
            </a:pPr>
            <a:r>
              <a:rPr lang="en-US" sz="1900" b="1" dirty="0">
                <a:solidFill>
                  <a:srgbClr val="1B2A49"/>
                </a:solidFill>
                <a:latin typeface="Cambria" pitchFamily="34" charset="0"/>
                <a:ea typeface="Cambria" pitchFamily="34" charset="-122"/>
                <a:cs typeface="Cambria" pitchFamily="34" charset="-120"/>
              </a:rPr>
              <a:t>No redundancy</a:t>
            </a:r>
            <a:endParaRPr lang="en-US" sz="1900" dirty="0"/>
          </a:p>
        </p:txBody>
      </p:sp>
      <p:sp>
        <p:nvSpPr>
          <p:cNvPr id="12" name="Text 8"/>
          <p:cNvSpPr txBox="1"/>
          <p:nvPr/>
        </p:nvSpPr>
        <p:spPr>
          <a:xfrm>
            <a:off x="4594860" y="2926080"/>
            <a:ext cx="3017520" cy="640080"/>
          </a:xfrm>
          <a:prstGeom prst="rect">
            <a:avLst/>
          </a:prstGeom>
          <a:noFill/>
          <a:ln/>
        </p:spPr>
        <p:txBody>
          <a:bodyPr wrap="square" lIns="0" tIns="0" rIns="0" bIns="0" rtlCol="0" anchor="t"/>
          <a:lstStyle/>
          <a:p>
            <a:pPr marL="0" indent="0">
              <a:buNone/>
            </a:pPr>
            <a:r>
              <a:rPr lang="en-US" sz="1400" dirty="0">
                <a:solidFill>
                  <a:srgbClr val="5B6B84"/>
                </a:solidFill>
                <a:latin typeface="Calibri" pitchFamily="34" charset="0"/>
                <a:ea typeface="Calibri" pitchFamily="34" charset="-122"/>
                <a:cs typeface="Calibri" pitchFamily="34" charset="-120"/>
              </a:rPr>
              <a:t>In 3NF every fact is stored once, so updates stay consistent.</a:t>
            </a:r>
            <a:endParaRPr lang="en-US" sz="1400" dirty="0"/>
          </a:p>
        </p:txBody>
      </p:sp>
      <p:sp>
        <p:nvSpPr>
          <p:cNvPr id="13" name="Shape 9"/>
          <p:cNvSpPr/>
          <p:nvPr/>
        </p:nvSpPr>
        <p:spPr>
          <a:xfrm>
            <a:off x="8092440" y="1371600"/>
            <a:ext cx="3520440" cy="2286000"/>
          </a:xfrm>
          <a:prstGeom prst="roundRect">
            <a:avLst>
              <a:gd name="adj" fmla="val 4800"/>
            </a:avLst>
          </a:prstGeom>
          <a:solidFill>
            <a:srgbClr val="EEF2F8"/>
          </a:solidFill>
          <a:ln w="12700">
            <a:solidFill>
              <a:srgbClr val="EEF2F8"/>
            </a:solidFill>
            <a:prstDash val="solid"/>
          </a:ln>
        </p:spPr>
        <p:txBody>
          <a:bodyPr/>
          <a:lstStyle/>
          <a:p>
            <a:endParaRPr lang="en-BB"/>
          </a:p>
        </p:txBody>
      </p:sp>
      <p:sp>
        <p:nvSpPr>
          <p:cNvPr id="14" name="Shape 10"/>
          <p:cNvSpPr/>
          <p:nvPr/>
        </p:nvSpPr>
        <p:spPr>
          <a:xfrm>
            <a:off x="8366760" y="1645920"/>
            <a:ext cx="731520" cy="731520"/>
          </a:xfrm>
          <a:prstGeom prst="ellipse">
            <a:avLst/>
          </a:prstGeom>
          <a:solidFill>
            <a:srgbClr val="2A9D8F"/>
          </a:solidFill>
          <a:ln w="12700">
            <a:solidFill>
              <a:srgbClr val="2A9D8F"/>
            </a:solidFill>
            <a:prstDash val="solid"/>
          </a:ln>
        </p:spPr>
        <p:txBody>
          <a:bodyPr/>
          <a:lstStyle/>
          <a:p>
            <a:endParaRPr lang="en-BB"/>
          </a:p>
        </p:txBody>
      </p:sp>
      <p:pic>
        <p:nvPicPr>
          <p:cNvPr id="15" name="Image 2" descr="preencoded.png"/>
          <p:cNvPicPr>
            <a:picLocks noChangeAspect="1"/>
          </p:cNvPicPr>
          <p:nvPr/>
        </p:nvPicPr>
        <p:blipFill>
          <a:blip r:embed="rId5"/>
          <a:stretch>
            <a:fillRect/>
          </a:stretch>
        </p:blipFill>
        <p:spPr>
          <a:xfrm>
            <a:off x="8549640" y="1828800"/>
            <a:ext cx="365760" cy="365760"/>
          </a:xfrm>
          <a:prstGeom prst="rect">
            <a:avLst/>
          </a:prstGeom>
        </p:spPr>
      </p:pic>
      <p:sp>
        <p:nvSpPr>
          <p:cNvPr id="16" name="Text 11"/>
          <p:cNvSpPr txBox="1"/>
          <p:nvPr/>
        </p:nvSpPr>
        <p:spPr>
          <a:xfrm>
            <a:off x="8366760" y="2514600"/>
            <a:ext cx="3017520" cy="365760"/>
          </a:xfrm>
          <a:prstGeom prst="rect">
            <a:avLst/>
          </a:prstGeom>
          <a:noFill/>
          <a:ln/>
        </p:spPr>
        <p:txBody>
          <a:bodyPr wrap="square" lIns="0" tIns="0" rIns="0" bIns="0" rtlCol="0" anchor="ctr"/>
          <a:lstStyle/>
          <a:p>
            <a:pPr marL="0" indent="0">
              <a:buNone/>
            </a:pPr>
            <a:r>
              <a:rPr lang="en-US" sz="1900" b="1" dirty="0">
                <a:solidFill>
                  <a:srgbClr val="1B2A49"/>
                </a:solidFill>
                <a:latin typeface="Cambria" pitchFamily="34" charset="0"/>
                <a:ea typeface="Cambria" pitchFamily="34" charset="-122"/>
                <a:cs typeface="Cambria" pitchFamily="34" charset="-120"/>
              </a:rPr>
              <a:t>Data integrity</a:t>
            </a:r>
            <a:endParaRPr lang="en-US" sz="1900" dirty="0"/>
          </a:p>
        </p:txBody>
      </p:sp>
      <p:sp>
        <p:nvSpPr>
          <p:cNvPr id="17" name="Text 12"/>
          <p:cNvSpPr txBox="1"/>
          <p:nvPr/>
        </p:nvSpPr>
        <p:spPr>
          <a:xfrm>
            <a:off x="8366760" y="2926080"/>
            <a:ext cx="3017520" cy="640080"/>
          </a:xfrm>
          <a:prstGeom prst="rect">
            <a:avLst/>
          </a:prstGeom>
          <a:noFill/>
          <a:ln/>
        </p:spPr>
        <p:txBody>
          <a:bodyPr wrap="square" lIns="0" tIns="0" rIns="0" bIns="0" rtlCol="0" anchor="t"/>
          <a:lstStyle/>
          <a:p>
            <a:pPr marL="0" indent="0">
              <a:buNone/>
            </a:pPr>
            <a:r>
              <a:rPr lang="en-US" sz="1400" dirty="0">
                <a:solidFill>
                  <a:srgbClr val="5B6B84"/>
                </a:solidFill>
                <a:latin typeface="Calibri" pitchFamily="34" charset="0"/>
                <a:ea typeface="Calibri" pitchFamily="34" charset="-122"/>
                <a:cs typeface="Calibri" pitchFamily="34" charset="-120"/>
              </a:rPr>
              <a:t>Primary keys, foreign keys and CHECK constraints block invalid records.</a:t>
            </a:r>
            <a:endParaRPr lang="en-US" sz="1400" dirty="0"/>
          </a:p>
        </p:txBody>
      </p:sp>
      <p:sp>
        <p:nvSpPr>
          <p:cNvPr id="18" name="Shape 13"/>
          <p:cNvSpPr/>
          <p:nvPr/>
        </p:nvSpPr>
        <p:spPr>
          <a:xfrm>
            <a:off x="548640" y="3886200"/>
            <a:ext cx="3520440" cy="2286000"/>
          </a:xfrm>
          <a:prstGeom prst="roundRect">
            <a:avLst>
              <a:gd name="adj" fmla="val 4800"/>
            </a:avLst>
          </a:prstGeom>
          <a:solidFill>
            <a:srgbClr val="EEF2F8"/>
          </a:solidFill>
          <a:ln w="12700">
            <a:solidFill>
              <a:srgbClr val="EEF2F8"/>
            </a:solidFill>
            <a:prstDash val="solid"/>
          </a:ln>
        </p:spPr>
        <p:txBody>
          <a:bodyPr/>
          <a:lstStyle/>
          <a:p>
            <a:endParaRPr lang="en-BB"/>
          </a:p>
        </p:txBody>
      </p:sp>
      <p:sp>
        <p:nvSpPr>
          <p:cNvPr id="19" name="Shape 14"/>
          <p:cNvSpPr/>
          <p:nvPr/>
        </p:nvSpPr>
        <p:spPr>
          <a:xfrm>
            <a:off x="822960" y="4160520"/>
            <a:ext cx="731520" cy="731520"/>
          </a:xfrm>
          <a:prstGeom prst="ellipse">
            <a:avLst/>
          </a:prstGeom>
          <a:solidFill>
            <a:srgbClr val="2A9D8F"/>
          </a:solidFill>
          <a:ln w="12700">
            <a:solidFill>
              <a:srgbClr val="2A9D8F"/>
            </a:solidFill>
            <a:prstDash val="solid"/>
          </a:ln>
        </p:spPr>
        <p:txBody>
          <a:bodyPr/>
          <a:lstStyle/>
          <a:p>
            <a:endParaRPr lang="en-BB"/>
          </a:p>
        </p:txBody>
      </p:sp>
      <p:pic>
        <p:nvPicPr>
          <p:cNvPr id="20" name="Image 3" descr="preencoded.png"/>
          <p:cNvPicPr>
            <a:picLocks noChangeAspect="1"/>
          </p:cNvPicPr>
          <p:nvPr/>
        </p:nvPicPr>
        <p:blipFill>
          <a:blip r:embed="rId6"/>
          <a:stretch>
            <a:fillRect/>
          </a:stretch>
        </p:blipFill>
        <p:spPr>
          <a:xfrm>
            <a:off x="1005840" y="4343400"/>
            <a:ext cx="365760" cy="365760"/>
          </a:xfrm>
          <a:prstGeom prst="rect">
            <a:avLst/>
          </a:prstGeom>
        </p:spPr>
      </p:pic>
      <p:sp>
        <p:nvSpPr>
          <p:cNvPr id="21" name="Text 15"/>
          <p:cNvSpPr txBox="1"/>
          <p:nvPr/>
        </p:nvSpPr>
        <p:spPr>
          <a:xfrm>
            <a:off x="822960" y="5029200"/>
            <a:ext cx="3017520" cy="365760"/>
          </a:xfrm>
          <a:prstGeom prst="rect">
            <a:avLst/>
          </a:prstGeom>
          <a:noFill/>
          <a:ln/>
        </p:spPr>
        <p:txBody>
          <a:bodyPr wrap="square" lIns="0" tIns="0" rIns="0" bIns="0" rtlCol="0" anchor="ctr"/>
          <a:lstStyle/>
          <a:p>
            <a:pPr marL="0" indent="0">
              <a:buNone/>
            </a:pPr>
            <a:r>
              <a:rPr lang="en-US" sz="1900" b="1" dirty="0">
                <a:solidFill>
                  <a:srgbClr val="1B2A49"/>
                </a:solidFill>
                <a:latin typeface="Cambria" pitchFamily="34" charset="0"/>
                <a:ea typeface="Cambria" pitchFamily="34" charset="-122"/>
                <a:cs typeface="Cambria" pitchFamily="34" charset="-120"/>
              </a:rPr>
              <a:t>Controlled access</a:t>
            </a:r>
            <a:endParaRPr lang="en-US" sz="1900" dirty="0"/>
          </a:p>
        </p:txBody>
      </p:sp>
      <p:sp>
        <p:nvSpPr>
          <p:cNvPr id="22" name="Text 16"/>
          <p:cNvSpPr txBox="1"/>
          <p:nvPr/>
        </p:nvSpPr>
        <p:spPr>
          <a:xfrm>
            <a:off x="822960" y="5440680"/>
            <a:ext cx="3017520" cy="640080"/>
          </a:xfrm>
          <a:prstGeom prst="rect">
            <a:avLst/>
          </a:prstGeom>
          <a:noFill/>
          <a:ln/>
        </p:spPr>
        <p:txBody>
          <a:bodyPr wrap="square" lIns="0" tIns="0" rIns="0" bIns="0" rtlCol="0" anchor="t"/>
          <a:lstStyle/>
          <a:p>
            <a:pPr marL="0" indent="0">
              <a:buNone/>
            </a:pPr>
            <a:r>
              <a:rPr lang="en-US" sz="1400" dirty="0">
                <a:solidFill>
                  <a:srgbClr val="5B6B84"/>
                </a:solidFill>
                <a:latin typeface="Calibri" pitchFamily="34" charset="0"/>
                <a:ea typeface="Calibri" pitchFamily="34" charset="-122"/>
                <a:cs typeface="Calibri" pitchFamily="34" charset="-120"/>
              </a:rPr>
              <a:t>Manager and Clerk roles protect business-critical data.</a:t>
            </a:r>
            <a:endParaRPr lang="en-US" sz="1400" dirty="0"/>
          </a:p>
        </p:txBody>
      </p:sp>
      <p:sp>
        <p:nvSpPr>
          <p:cNvPr id="23" name="Shape 17"/>
          <p:cNvSpPr/>
          <p:nvPr/>
        </p:nvSpPr>
        <p:spPr>
          <a:xfrm>
            <a:off x="4320540" y="3886200"/>
            <a:ext cx="3520440" cy="2286000"/>
          </a:xfrm>
          <a:prstGeom prst="roundRect">
            <a:avLst>
              <a:gd name="adj" fmla="val 4800"/>
            </a:avLst>
          </a:prstGeom>
          <a:solidFill>
            <a:srgbClr val="EEF2F8"/>
          </a:solidFill>
          <a:ln w="12700">
            <a:solidFill>
              <a:srgbClr val="EEF2F8"/>
            </a:solidFill>
            <a:prstDash val="solid"/>
          </a:ln>
        </p:spPr>
        <p:txBody>
          <a:bodyPr/>
          <a:lstStyle/>
          <a:p>
            <a:endParaRPr lang="en-BB"/>
          </a:p>
        </p:txBody>
      </p:sp>
      <p:sp>
        <p:nvSpPr>
          <p:cNvPr id="24" name="Shape 18"/>
          <p:cNvSpPr/>
          <p:nvPr/>
        </p:nvSpPr>
        <p:spPr>
          <a:xfrm>
            <a:off x="4594860" y="4160520"/>
            <a:ext cx="731520" cy="731520"/>
          </a:xfrm>
          <a:prstGeom prst="ellipse">
            <a:avLst/>
          </a:prstGeom>
          <a:solidFill>
            <a:srgbClr val="2A9D8F"/>
          </a:solidFill>
          <a:ln w="12700">
            <a:solidFill>
              <a:srgbClr val="2A9D8F"/>
            </a:solidFill>
            <a:prstDash val="solid"/>
          </a:ln>
        </p:spPr>
        <p:txBody>
          <a:bodyPr/>
          <a:lstStyle/>
          <a:p>
            <a:endParaRPr lang="en-BB"/>
          </a:p>
        </p:txBody>
      </p:sp>
      <p:pic>
        <p:nvPicPr>
          <p:cNvPr id="25" name="Image 4" descr="preencoded.png"/>
          <p:cNvPicPr>
            <a:picLocks noChangeAspect="1"/>
          </p:cNvPicPr>
          <p:nvPr/>
        </p:nvPicPr>
        <p:blipFill>
          <a:blip r:embed="rId7"/>
          <a:stretch>
            <a:fillRect/>
          </a:stretch>
        </p:blipFill>
        <p:spPr>
          <a:xfrm>
            <a:off x="4777740" y="4343400"/>
            <a:ext cx="365760" cy="365760"/>
          </a:xfrm>
          <a:prstGeom prst="rect">
            <a:avLst/>
          </a:prstGeom>
        </p:spPr>
      </p:pic>
      <p:sp>
        <p:nvSpPr>
          <p:cNvPr id="26" name="Text 19"/>
          <p:cNvSpPr txBox="1"/>
          <p:nvPr/>
        </p:nvSpPr>
        <p:spPr>
          <a:xfrm>
            <a:off x="4594860" y="5029200"/>
            <a:ext cx="3017520" cy="365760"/>
          </a:xfrm>
          <a:prstGeom prst="rect">
            <a:avLst/>
          </a:prstGeom>
          <a:noFill/>
          <a:ln/>
        </p:spPr>
        <p:txBody>
          <a:bodyPr wrap="square" lIns="0" tIns="0" rIns="0" bIns="0" rtlCol="0" anchor="ctr"/>
          <a:lstStyle/>
          <a:p>
            <a:pPr marL="0" indent="0">
              <a:buNone/>
            </a:pPr>
            <a:r>
              <a:rPr lang="en-US" sz="1900" b="1" dirty="0">
                <a:solidFill>
                  <a:srgbClr val="1B2A49"/>
                </a:solidFill>
                <a:latin typeface="Cambria" pitchFamily="34" charset="0"/>
                <a:ea typeface="Cambria" pitchFamily="34" charset="-122"/>
                <a:cs typeface="Cambria" pitchFamily="34" charset="-120"/>
              </a:rPr>
              <a:t>Faster decisions</a:t>
            </a:r>
            <a:endParaRPr lang="en-US" sz="1900" dirty="0"/>
          </a:p>
        </p:txBody>
      </p:sp>
      <p:sp>
        <p:nvSpPr>
          <p:cNvPr id="27" name="Text 20"/>
          <p:cNvSpPr txBox="1"/>
          <p:nvPr/>
        </p:nvSpPr>
        <p:spPr>
          <a:xfrm>
            <a:off x="4594860" y="5440680"/>
            <a:ext cx="3017520" cy="640080"/>
          </a:xfrm>
          <a:prstGeom prst="rect">
            <a:avLst/>
          </a:prstGeom>
          <a:noFill/>
          <a:ln/>
        </p:spPr>
        <p:txBody>
          <a:bodyPr wrap="square" lIns="0" tIns="0" rIns="0" bIns="0" rtlCol="0" anchor="t"/>
          <a:lstStyle/>
          <a:p>
            <a:pPr marL="0" indent="0">
              <a:buNone/>
            </a:pPr>
            <a:r>
              <a:rPr lang="en-US" sz="1400" dirty="0">
                <a:solidFill>
                  <a:srgbClr val="5B6B84"/>
                </a:solidFill>
                <a:latin typeface="Calibri" pitchFamily="34" charset="0"/>
                <a:ea typeface="Calibri" pitchFamily="34" charset="-122"/>
                <a:cs typeface="Calibri" pitchFamily="34" charset="-120"/>
              </a:rPr>
              <a:t>Ready-made queries show unpaid invoices, pending orders and stock levels.</a:t>
            </a:r>
            <a:endParaRPr lang="en-US" sz="1400" dirty="0"/>
          </a:p>
        </p:txBody>
      </p:sp>
      <p:sp>
        <p:nvSpPr>
          <p:cNvPr id="28" name="Shape 21"/>
          <p:cNvSpPr/>
          <p:nvPr/>
        </p:nvSpPr>
        <p:spPr>
          <a:xfrm>
            <a:off x="8092440" y="3886200"/>
            <a:ext cx="3520440" cy="2286000"/>
          </a:xfrm>
          <a:prstGeom prst="roundRect">
            <a:avLst>
              <a:gd name="adj" fmla="val 4800"/>
            </a:avLst>
          </a:prstGeom>
          <a:solidFill>
            <a:srgbClr val="EEF2F8"/>
          </a:solidFill>
          <a:ln w="12700">
            <a:solidFill>
              <a:srgbClr val="EEF2F8"/>
            </a:solidFill>
            <a:prstDash val="solid"/>
          </a:ln>
        </p:spPr>
        <p:txBody>
          <a:bodyPr/>
          <a:lstStyle/>
          <a:p>
            <a:endParaRPr lang="en-BB"/>
          </a:p>
        </p:txBody>
      </p:sp>
      <p:sp>
        <p:nvSpPr>
          <p:cNvPr id="29" name="Shape 22"/>
          <p:cNvSpPr/>
          <p:nvPr/>
        </p:nvSpPr>
        <p:spPr>
          <a:xfrm>
            <a:off x="8366760" y="4160520"/>
            <a:ext cx="731520" cy="731520"/>
          </a:xfrm>
          <a:prstGeom prst="ellipse">
            <a:avLst/>
          </a:prstGeom>
          <a:solidFill>
            <a:srgbClr val="2A9D8F"/>
          </a:solidFill>
          <a:ln w="12700">
            <a:solidFill>
              <a:srgbClr val="2A9D8F"/>
            </a:solidFill>
            <a:prstDash val="solid"/>
          </a:ln>
        </p:spPr>
        <p:txBody>
          <a:bodyPr/>
          <a:lstStyle/>
          <a:p>
            <a:endParaRPr lang="en-BB"/>
          </a:p>
        </p:txBody>
      </p:sp>
      <p:pic>
        <p:nvPicPr>
          <p:cNvPr id="30" name="Image 5" descr="preencoded.png"/>
          <p:cNvPicPr>
            <a:picLocks noChangeAspect="1"/>
          </p:cNvPicPr>
          <p:nvPr/>
        </p:nvPicPr>
        <p:blipFill>
          <a:blip r:embed="rId8"/>
          <a:stretch>
            <a:fillRect/>
          </a:stretch>
        </p:blipFill>
        <p:spPr>
          <a:xfrm>
            <a:off x="8549640" y="4343400"/>
            <a:ext cx="365760" cy="365760"/>
          </a:xfrm>
          <a:prstGeom prst="rect">
            <a:avLst/>
          </a:prstGeom>
        </p:spPr>
      </p:pic>
      <p:sp>
        <p:nvSpPr>
          <p:cNvPr id="31" name="Text 23"/>
          <p:cNvSpPr txBox="1"/>
          <p:nvPr/>
        </p:nvSpPr>
        <p:spPr>
          <a:xfrm>
            <a:off x="8366760" y="5029200"/>
            <a:ext cx="3017520" cy="365760"/>
          </a:xfrm>
          <a:prstGeom prst="rect">
            <a:avLst/>
          </a:prstGeom>
          <a:noFill/>
          <a:ln/>
        </p:spPr>
        <p:txBody>
          <a:bodyPr wrap="square" lIns="0" tIns="0" rIns="0" bIns="0" rtlCol="0" anchor="ctr"/>
          <a:lstStyle/>
          <a:p>
            <a:pPr marL="0" indent="0">
              <a:buNone/>
            </a:pPr>
            <a:r>
              <a:rPr lang="en-US" sz="1900" b="1" dirty="0">
                <a:solidFill>
                  <a:srgbClr val="1B2A49"/>
                </a:solidFill>
                <a:latin typeface="Cambria" pitchFamily="34" charset="0"/>
                <a:ea typeface="Cambria" pitchFamily="34" charset="-122"/>
                <a:cs typeface="Cambria" pitchFamily="34" charset="-120"/>
              </a:rPr>
              <a:t>Easy to grow</a:t>
            </a:r>
            <a:endParaRPr lang="en-US" sz="1900" dirty="0"/>
          </a:p>
        </p:txBody>
      </p:sp>
      <p:sp>
        <p:nvSpPr>
          <p:cNvPr id="32" name="Text 24"/>
          <p:cNvSpPr txBox="1"/>
          <p:nvPr/>
        </p:nvSpPr>
        <p:spPr>
          <a:xfrm>
            <a:off x="8366760" y="5440680"/>
            <a:ext cx="3017520" cy="640080"/>
          </a:xfrm>
          <a:prstGeom prst="rect">
            <a:avLst/>
          </a:prstGeom>
          <a:noFill/>
          <a:ln/>
        </p:spPr>
        <p:txBody>
          <a:bodyPr wrap="square" lIns="0" tIns="0" rIns="0" bIns="0" rtlCol="0" anchor="t"/>
          <a:lstStyle/>
          <a:p>
            <a:pPr marL="0" indent="0">
              <a:buNone/>
            </a:pPr>
            <a:r>
              <a:rPr lang="en-US" sz="1400" dirty="0">
                <a:solidFill>
                  <a:srgbClr val="5B6B84"/>
                </a:solidFill>
                <a:latin typeface="Calibri" pitchFamily="34" charset="0"/>
                <a:ea typeface="Calibri" pitchFamily="34" charset="-122"/>
                <a:cs typeface="Calibri" pitchFamily="34" charset="-120"/>
              </a:rPr>
              <a:t>New products, warehouses and customers need no change to the structure.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9"/>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Shape 1"/>
          <p:cNvSpPr/>
          <p:nvPr/>
        </p:nvSpPr>
        <p:spPr>
          <a:xfrm>
            <a:off x="548640" y="1280160"/>
            <a:ext cx="594360" cy="594360"/>
          </a:xfrm>
          <a:prstGeom prst="ellipse">
            <a:avLst/>
          </a:prstGeom>
          <a:solidFill>
            <a:srgbClr val="2A9D8F"/>
          </a:solidFill>
          <a:ln w="12700">
            <a:solidFill>
              <a:srgbClr val="2A9D8F"/>
            </a:solidFill>
            <a:prstDash val="solid"/>
          </a:ln>
        </p:spPr>
        <p:txBody>
          <a:bodyPr/>
          <a:lstStyle/>
          <a:p>
            <a:endParaRPr lang="en-BB"/>
          </a:p>
        </p:txBody>
      </p:sp>
      <p:pic>
        <p:nvPicPr>
          <p:cNvPr id="4" name="Image 0" descr="preencoded.png"/>
          <p:cNvPicPr>
            <a:picLocks noChangeAspect="1"/>
          </p:cNvPicPr>
          <p:nvPr/>
        </p:nvPicPr>
        <p:blipFill>
          <a:blip r:embed="rId3"/>
          <a:stretch>
            <a:fillRect/>
          </a:stretch>
        </p:blipFill>
        <p:spPr>
          <a:xfrm>
            <a:off x="697230" y="1428750"/>
            <a:ext cx="297180" cy="297180"/>
          </a:xfrm>
          <a:prstGeom prst="rect">
            <a:avLst/>
          </a:prstGeom>
        </p:spPr>
      </p:pic>
      <p:sp>
        <p:nvSpPr>
          <p:cNvPr id="5" name="Text 2"/>
          <p:cNvSpPr txBox="1"/>
          <p:nvPr/>
        </p:nvSpPr>
        <p:spPr>
          <a:xfrm>
            <a:off x="1371600" y="1280160"/>
            <a:ext cx="5760720" cy="5943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Designed 9 entities and mapped them to a relational schema in 3NF</a:t>
            </a:r>
            <a:endParaRPr lang="en-US" sz="1700" dirty="0"/>
          </a:p>
        </p:txBody>
      </p:sp>
      <p:sp>
        <p:nvSpPr>
          <p:cNvPr id="6" name="Shape 3"/>
          <p:cNvSpPr/>
          <p:nvPr/>
        </p:nvSpPr>
        <p:spPr>
          <a:xfrm>
            <a:off x="548640" y="2194560"/>
            <a:ext cx="594360" cy="594360"/>
          </a:xfrm>
          <a:prstGeom prst="ellipse">
            <a:avLst/>
          </a:prstGeom>
          <a:solidFill>
            <a:srgbClr val="2A9D8F"/>
          </a:solidFill>
          <a:ln w="12700">
            <a:solidFill>
              <a:srgbClr val="2A9D8F"/>
            </a:solidFill>
            <a:prstDash val="solid"/>
          </a:ln>
        </p:spPr>
        <p:txBody>
          <a:bodyPr/>
          <a:lstStyle/>
          <a:p>
            <a:endParaRPr lang="en-BB"/>
          </a:p>
        </p:txBody>
      </p:sp>
      <p:pic>
        <p:nvPicPr>
          <p:cNvPr id="7" name="Image 1" descr="preencoded.png"/>
          <p:cNvPicPr>
            <a:picLocks noChangeAspect="1"/>
          </p:cNvPicPr>
          <p:nvPr/>
        </p:nvPicPr>
        <p:blipFill>
          <a:blip r:embed="rId3"/>
          <a:stretch>
            <a:fillRect/>
          </a:stretch>
        </p:blipFill>
        <p:spPr>
          <a:xfrm>
            <a:off x="697230" y="2343150"/>
            <a:ext cx="297180" cy="297180"/>
          </a:xfrm>
          <a:prstGeom prst="rect">
            <a:avLst/>
          </a:prstGeom>
        </p:spPr>
      </p:pic>
      <p:sp>
        <p:nvSpPr>
          <p:cNvPr id="8" name="Text 4"/>
          <p:cNvSpPr txBox="1"/>
          <p:nvPr/>
        </p:nvSpPr>
        <p:spPr>
          <a:xfrm>
            <a:off x="1371600" y="2194560"/>
            <a:ext cx="5760720" cy="5943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Built ColourSelectionDB in SQL Server with 10 records in every table</a:t>
            </a:r>
            <a:endParaRPr lang="en-US" sz="1700" dirty="0"/>
          </a:p>
        </p:txBody>
      </p:sp>
      <p:sp>
        <p:nvSpPr>
          <p:cNvPr id="9" name="Shape 5"/>
          <p:cNvSpPr/>
          <p:nvPr/>
        </p:nvSpPr>
        <p:spPr>
          <a:xfrm>
            <a:off x="548640" y="3108960"/>
            <a:ext cx="594360" cy="594360"/>
          </a:xfrm>
          <a:prstGeom prst="ellipse">
            <a:avLst/>
          </a:prstGeom>
          <a:solidFill>
            <a:srgbClr val="2A9D8F"/>
          </a:solidFill>
          <a:ln w="12700">
            <a:solidFill>
              <a:srgbClr val="2A9D8F"/>
            </a:solidFill>
            <a:prstDash val="solid"/>
          </a:ln>
        </p:spPr>
        <p:txBody>
          <a:bodyPr/>
          <a:lstStyle/>
          <a:p>
            <a:endParaRPr lang="en-BB"/>
          </a:p>
        </p:txBody>
      </p:sp>
      <p:pic>
        <p:nvPicPr>
          <p:cNvPr id="10" name="Image 2" descr="preencoded.png"/>
          <p:cNvPicPr>
            <a:picLocks noChangeAspect="1"/>
          </p:cNvPicPr>
          <p:nvPr/>
        </p:nvPicPr>
        <p:blipFill>
          <a:blip r:embed="rId3"/>
          <a:stretch>
            <a:fillRect/>
          </a:stretch>
        </p:blipFill>
        <p:spPr>
          <a:xfrm>
            <a:off x="697230" y="3257550"/>
            <a:ext cx="297180" cy="297180"/>
          </a:xfrm>
          <a:prstGeom prst="rect">
            <a:avLst/>
          </a:prstGeom>
        </p:spPr>
      </p:pic>
      <p:sp>
        <p:nvSpPr>
          <p:cNvPr id="11" name="Text 6"/>
          <p:cNvSpPr txBox="1"/>
          <p:nvPr/>
        </p:nvSpPr>
        <p:spPr>
          <a:xfrm>
            <a:off x="1371600" y="3108960"/>
            <a:ext cx="5760720" cy="5943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Answered business questions with 13 SQL queries</a:t>
            </a:r>
            <a:endParaRPr lang="en-US" sz="1700" dirty="0"/>
          </a:p>
        </p:txBody>
      </p:sp>
      <p:sp>
        <p:nvSpPr>
          <p:cNvPr id="12" name="Shape 7"/>
          <p:cNvSpPr/>
          <p:nvPr/>
        </p:nvSpPr>
        <p:spPr>
          <a:xfrm>
            <a:off x="548640" y="4023360"/>
            <a:ext cx="594360" cy="594360"/>
          </a:xfrm>
          <a:prstGeom prst="ellipse">
            <a:avLst/>
          </a:prstGeom>
          <a:solidFill>
            <a:srgbClr val="2A9D8F"/>
          </a:solidFill>
          <a:ln w="12700">
            <a:solidFill>
              <a:srgbClr val="2A9D8F"/>
            </a:solidFill>
            <a:prstDash val="solid"/>
          </a:ln>
        </p:spPr>
        <p:txBody>
          <a:bodyPr/>
          <a:lstStyle/>
          <a:p>
            <a:endParaRPr lang="en-BB"/>
          </a:p>
        </p:txBody>
      </p:sp>
      <p:pic>
        <p:nvPicPr>
          <p:cNvPr id="13" name="Image 3" descr="preencoded.png"/>
          <p:cNvPicPr>
            <a:picLocks noChangeAspect="1"/>
          </p:cNvPicPr>
          <p:nvPr/>
        </p:nvPicPr>
        <p:blipFill>
          <a:blip r:embed="rId3"/>
          <a:stretch>
            <a:fillRect/>
          </a:stretch>
        </p:blipFill>
        <p:spPr>
          <a:xfrm>
            <a:off x="697230" y="4171950"/>
            <a:ext cx="297180" cy="297180"/>
          </a:xfrm>
          <a:prstGeom prst="rect">
            <a:avLst/>
          </a:prstGeom>
        </p:spPr>
      </p:pic>
      <p:sp>
        <p:nvSpPr>
          <p:cNvPr id="14" name="Text 8"/>
          <p:cNvSpPr txBox="1"/>
          <p:nvPr/>
        </p:nvSpPr>
        <p:spPr>
          <a:xfrm>
            <a:off x="1371600" y="4023360"/>
            <a:ext cx="5760720" cy="5943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Secured the data with Manager and Clerk roles</a:t>
            </a:r>
            <a:endParaRPr lang="en-US" sz="1700" dirty="0"/>
          </a:p>
        </p:txBody>
      </p:sp>
      <p:sp>
        <p:nvSpPr>
          <p:cNvPr id="15" name="Shape 9"/>
          <p:cNvSpPr/>
          <p:nvPr/>
        </p:nvSpPr>
        <p:spPr>
          <a:xfrm>
            <a:off x="7589520" y="1280160"/>
            <a:ext cx="4023360" cy="3291840"/>
          </a:xfrm>
          <a:prstGeom prst="roundRect">
            <a:avLst>
              <a:gd name="adj" fmla="val 3333"/>
            </a:avLst>
          </a:prstGeom>
          <a:solidFill>
            <a:srgbClr val="263759"/>
          </a:solidFill>
          <a:ln w="12700">
            <a:solidFill>
              <a:srgbClr val="263759"/>
            </a:solidFill>
            <a:prstDash val="solid"/>
          </a:ln>
        </p:spPr>
        <p:txBody>
          <a:bodyPr/>
          <a:lstStyle/>
          <a:p>
            <a:endParaRPr lang="en-BB"/>
          </a:p>
        </p:txBody>
      </p:sp>
      <p:sp>
        <p:nvSpPr>
          <p:cNvPr id="16" name="Text 10"/>
          <p:cNvSpPr txBox="1"/>
          <p:nvPr/>
        </p:nvSpPr>
        <p:spPr>
          <a:xfrm>
            <a:off x="7863840" y="1463040"/>
            <a:ext cx="3474720" cy="502920"/>
          </a:xfrm>
          <a:prstGeom prst="rect">
            <a:avLst/>
          </a:prstGeom>
          <a:noFill/>
          <a:ln/>
        </p:spPr>
        <p:txBody>
          <a:bodyPr wrap="square" lIns="0" tIns="0" rIns="0" bIns="0" rtlCol="0" anchor="ctr"/>
          <a:lstStyle/>
          <a:p>
            <a:pPr marL="0" indent="0">
              <a:buNone/>
            </a:pPr>
            <a:r>
              <a:rPr lang="en-US" sz="2200" b="1" dirty="0">
                <a:solidFill>
                  <a:srgbClr val="F4A261"/>
                </a:solidFill>
                <a:latin typeface="Cambria" pitchFamily="34" charset="0"/>
                <a:ea typeface="Cambria" pitchFamily="34" charset="-122"/>
                <a:cs typeface="Cambria" pitchFamily="34" charset="-120"/>
              </a:rPr>
              <a:t>Future work</a:t>
            </a:r>
            <a:endParaRPr lang="en-US" sz="2200" dirty="0"/>
          </a:p>
        </p:txBody>
      </p:sp>
      <p:sp>
        <p:nvSpPr>
          <p:cNvPr id="17" name="Text 11"/>
          <p:cNvSpPr txBox="1"/>
          <p:nvPr/>
        </p:nvSpPr>
        <p:spPr>
          <a:xfrm>
            <a:off x="7863840" y="2148840"/>
            <a:ext cx="3474720" cy="2286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A front-end application for staff</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Link each invoice directly to its sales order</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Stored procedures and triggers to maintain derived totals</a:t>
            </a:r>
            <a:endParaRPr lang="en-US" sz="1500" dirty="0"/>
          </a:p>
        </p:txBody>
      </p:sp>
      <p:sp>
        <p:nvSpPr>
          <p:cNvPr id="18" name="Shape 12"/>
          <p:cNvSpPr/>
          <p:nvPr/>
        </p:nvSpPr>
        <p:spPr>
          <a:xfrm>
            <a:off x="10058400" y="4937760"/>
            <a:ext cx="822960" cy="822960"/>
          </a:xfrm>
          <a:prstGeom prst="ellipse">
            <a:avLst/>
          </a:prstGeom>
          <a:solidFill>
            <a:srgbClr val="2A9D8F">
              <a:alpha val="80000"/>
            </a:srgbClr>
          </a:solidFill>
          <a:ln w="12700">
            <a:solidFill>
              <a:srgbClr val="2A9D8F"/>
            </a:solidFill>
            <a:prstDash val="solid"/>
          </a:ln>
        </p:spPr>
        <p:txBody>
          <a:bodyPr/>
          <a:lstStyle/>
          <a:p>
            <a:endParaRPr lang="en-BB"/>
          </a:p>
        </p:txBody>
      </p:sp>
      <p:sp>
        <p:nvSpPr>
          <p:cNvPr id="19" name="Shape 13"/>
          <p:cNvSpPr/>
          <p:nvPr/>
        </p:nvSpPr>
        <p:spPr>
          <a:xfrm>
            <a:off x="10552176" y="5212080"/>
            <a:ext cx="987552" cy="987552"/>
          </a:xfrm>
          <a:prstGeom prst="ellipse">
            <a:avLst/>
          </a:prstGeom>
          <a:solidFill>
            <a:srgbClr val="F4A261">
              <a:alpha val="75000"/>
            </a:srgbClr>
          </a:solidFill>
          <a:ln w="12700">
            <a:solidFill>
              <a:srgbClr val="F4A261"/>
            </a:solidFill>
            <a:prstDash val="solid"/>
          </a:ln>
        </p:spPr>
        <p:txBody>
          <a:bodyPr/>
          <a:lstStyle/>
          <a:p>
            <a:endParaRPr lang="en-BB"/>
          </a:p>
        </p:txBody>
      </p:sp>
      <p:sp>
        <p:nvSpPr>
          <p:cNvPr id="20" name="Shape 14"/>
          <p:cNvSpPr/>
          <p:nvPr/>
        </p:nvSpPr>
        <p:spPr>
          <a:xfrm>
            <a:off x="10222992" y="5541264"/>
            <a:ext cx="658368" cy="658368"/>
          </a:xfrm>
          <a:prstGeom prst="ellipse">
            <a:avLst/>
          </a:prstGeom>
          <a:solidFill>
            <a:srgbClr val="E76F51">
              <a:alpha val="75000"/>
            </a:srgbClr>
          </a:solidFill>
          <a:ln w="12700">
            <a:solidFill>
              <a:srgbClr val="E76F51"/>
            </a:solidFill>
            <a:prstDash val="solid"/>
          </a:ln>
        </p:spPr>
        <p:txBody>
          <a:bodyPr/>
          <a:lstStyle/>
          <a:p>
            <a:endParaRPr lang="en-BB"/>
          </a:p>
        </p:txBody>
      </p:sp>
      <p:sp>
        <p:nvSpPr>
          <p:cNvPr id="21" name="Text 15"/>
          <p:cNvSpPr txBox="1"/>
          <p:nvPr/>
        </p:nvSpPr>
        <p:spPr>
          <a:xfrm>
            <a:off x="548640" y="5029200"/>
            <a:ext cx="82296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   </a:t>
            </a:r>
            <a:r>
              <a:rPr lang="en-US" sz="4000" dirty="0">
                <a:solidFill>
                  <a:srgbClr val="F4A261"/>
                </a:solidFill>
                <a:latin typeface="Cambria" pitchFamily="34" charset="0"/>
                <a:ea typeface="Cambria" pitchFamily="34" charset="-122"/>
                <a:cs typeface="Cambria" pitchFamily="34" charset="-120"/>
              </a:rPr>
              <a:t>Questions?</a:t>
            </a:r>
            <a:endParaRPr lang="en-US" sz="4000" dirty="0"/>
          </a:p>
        </p:txBody>
      </p:sp>
      <p:sp>
        <p:nvSpPr>
          <p:cNvPr id="22" name="Text 16"/>
          <p:cNvSpPr txBox="1"/>
          <p:nvPr/>
        </p:nvSpPr>
        <p:spPr>
          <a:xfrm>
            <a:off x="548640" y="5989320"/>
            <a:ext cx="86868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S.R.R Moulana  |  A.M.A Zimthi  |  S.W Ekanayake  |  K.P.H Dilruwan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1695</Words>
  <Application>Microsoft Office PowerPoint</Application>
  <PresentationFormat>Widescreen</PresentationFormat>
  <Paragraphs>216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Colour Selection - B2B Textile Inventory and Sales Management System</dc:title>
  <dc:subject>PptxGenJS Presentation</dc:subject>
  <dc:creator>DM1 Group</dc:creator>
  <cp:lastModifiedBy>MOULANA S R R</cp:lastModifiedBy>
  <cp:revision>2</cp:revision>
  <dcterms:created xsi:type="dcterms:W3CDTF">2026-10-03T05:54:25Z</dcterms:created>
  <dcterms:modified xsi:type="dcterms:W3CDTF">2026-10-03T08:52:40Z</dcterms:modified>
</cp:coreProperties>
</file>